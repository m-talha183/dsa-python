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7" r:id="rId2"/>
    <p:sldId id="275" r:id="rId3"/>
    <p:sldId id="276" r:id="rId4"/>
    <p:sldId id="348" r:id="rId5"/>
    <p:sldId id="279" r:id="rId6"/>
    <p:sldId id="349" r:id="rId7"/>
    <p:sldId id="350" r:id="rId8"/>
    <p:sldId id="364" r:id="rId9"/>
    <p:sldId id="351" r:id="rId10"/>
    <p:sldId id="352" r:id="rId11"/>
    <p:sldId id="353" r:id="rId12"/>
    <p:sldId id="354" r:id="rId13"/>
    <p:sldId id="355" r:id="rId14"/>
    <p:sldId id="356" r:id="rId15"/>
    <p:sldId id="283" r:id="rId16"/>
    <p:sldId id="284" r:id="rId17"/>
    <p:sldId id="285" r:id="rId18"/>
    <p:sldId id="295" r:id="rId19"/>
    <p:sldId id="305" r:id="rId20"/>
    <p:sldId id="321" r:id="rId21"/>
    <p:sldId id="322" r:id="rId22"/>
    <p:sldId id="323" r:id="rId23"/>
    <p:sldId id="324" r:id="rId24"/>
    <p:sldId id="357" r:id="rId25"/>
    <p:sldId id="358" r:id="rId26"/>
    <p:sldId id="361" r:id="rId27"/>
    <p:sldId id="362" r:id="rId28"/>
    <p:sldId id="363" r:id="rId29"/>
    <p:sldId id="325" r:id="rId30"/>
    <p:sldId id="326" r:id="rId31"/>
    <p:sldId id="328" r:id="rId32"/>
    <p:sldId id="329" r:id="rId33"/>
    <p:sldId id="330" r:id="rId34"/>
    <p:sldId id="331" r:id="rId35"/>
    <p:sldId id="365" r:id="rId36"/>
    <p:sldId id="332" r:id="rId37"/>
    <p:sldId id="333" r:id="rId38"/>
    <p:sldId id="337" r:id="rId39"/>
    <p:sldId id="340" r:id="rId40"/>
    <p:sldId id="359" r:id="rId41"/>
    <p:sldId id="342" r:id="rId42"/>
    <p:sldId id="366" r:id="rId43"/>
    <p:sldId id="360" r:id="rId44"/>
    <p:sldId id="343" r:id="rId45"/>
    <p:sldId id="344" r:id="rId46"/>
    <p:sldId id="345" r:id="rId47"/>
    <p:sldId id="346" r:id="rId48"/>
    <p:sldId id="347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notesMaster" Target="notesMasters/notesMaster1.xml" /><Relationship Id="rId55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handoutMaster" Target="handoutMasters/handoutMaster1.xml" /><Relationship Id="rId3" Type="http://schemas.openxmlformats.org/officeDocument/2006/relationships/slide" Target="slides/slide2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4951D-FEFC-42B2-A524-F97C5634753E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EAD29-2160-4EB0-AFEE-A344719DC9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AFB6D-358B-4FE4-8483-25D80F7C7E80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95F55-64ED-4BBB-BB5D-32E1725C5B9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914613-1FD4-4C64-88CA-4610CEEE678F}" type="slidenum">
              <a:rPr lang="en-US"/>
              <a:pPr/>
              <a:t>1</a:t>
            </a:fld>
            <a:endParaRPr lang="en-US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CC0C35-006E-4C26-A666-826DAED3D8AF}" type="slidenum">
              <a:rPr lang="en-US"/>
              <a:pPr/>
              <a:t>2</a:t>
            </a:fld>
            <a:endParaRPr lang="en-US"/>
          </a:p>
        </p:txBody>
      </p:sp>
      <p:sp>
        <p:nvSpPr>
          <p:cNvPr id="307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04" name="Rectangle 102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733FDF-66CE-49FF-8E7C-70736AB62CA4}" type="slidenum">
              <a:rPr lang="en-US"/>
              <a:pPr/>
              <a:t>3</a:t>
            </a:fld>
            <a:endParaRPr lang="en-US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6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827E7F-644D-4B7E-A20E-9A09D8B6911B}" type="slidenum">
              <a:rPr lang="en-US"/>
              <a:pPr/>
              <a:t>5</a:t>
            </a:fld>
            <a:endParaRPr lang="en-US"/>
          </a:p>
        </p:txBody>
      </p:sp>
      <p:sp>
        <p:nvSpPr>
          <p:cNvPr id="31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130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A0BF74-274F-48A2-90EC-7A87A69D6069}" type="slidenum">
              <a:rPr lang="en-US"/>
              <a:pPr/>
              <a:t>15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148869-9836-4CB6-B0A5-A84802E5446D}" type="slidenum">
              <a:rPr lang="en-US"/>
              <a:pPr/>
              <a:t>16</a:t>
            </a:fld>
            <a:endParaRPr lang="en-US"/>
          </a:p>
        </p:txBody>
      </p:sp>
      <p:sp>
        <p:nvSpPr>
          <p:cNvPr id="532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B4BB99-97D8-47AC-93DD-C24F21EC0944}" type="slidenum">
              <a:rPr lang="en-US"/>
              <a:pPr/>
              <a:t>17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199F87-2CE7-4DEF-879A-1498DC5DCE9C}" type="slidenum">
              <a:rPr lang="en-US"/>
              <a:pPr/>
              <a:t>18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042147-9AE8-421D-AB48-E8FEE3B0F28C}" type="slidenum">
              <a:rPr lang="en-US"/>
              <a:pPr/>
              <a:t>19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8B9EC2-D72A-4270-A37F-1212755E1483}" type="slidenum">
              <a:rPr lang="en-US"/>
              <a:pPr/>
              <a:t>20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E0C78A-07F8-422A-B6D3-B88065BBCDC3}" type="slidenum">
              <a:rPr lang="en-US"/>
              <a:pPr/>
              <a:t>21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B5C2A9-215A-4090-8565-080A36A27689}" type="slidenum">
              <a:rPr lang="en-US"/>
              <a:pPr/>
              <a:t>22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7547B-55E3-4787-9CD6-D0BFD9228D66}" type="slidenum">
              <a:rPr lang="en-US"/>
              <a:pPr/>
              <a:t>23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95F55-64ED-4BBB-BB5D-32E1725C5B9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EC9D70-48D7-4A2C-8339-A0E299928E77}" type="slidenum">
              <a:rPr lang="en-US"/>
              <a:pPr/>
              <a:t>29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6AE171-8DFC-416F-93E5-C8BDF68EBB88}" type="slidenum">
              <a:rPr lang="en-US"/>
              <a:pPr/>
              <a:t>30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End of lecture 3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CF6C73-BC8F-4D9A-BBD6-D2F878B0D223}" type="slidenum">
              <a:rPr lang="en-US"/>
              <a:pPr/>
              <a:t>31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F9FB2B-3C77-4D45-8FC8-BD22463247F5}" type="slidenum">
              <a:rPr lang="en-US"/>
              <a:pPr/>
              <a:t>32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9131C5-F321-42C8-B1A1-7364D130D6D0}" type="slidenum">
              <a:rPr lang="en-US"/>
              <a:pPr/>
              <a:t>33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E53844-E8D1-4132-A386-6A5FB14326AB}" type="slidenum">
              <a:rPr lang="en-US"/>
              <a:pPr/>
              <a:t>34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1E4159-0381-4385-ABB1-F533400F0D66}" type="slidenum">
              <a:rPr lang="en-US"/>
              <a:pPr/>
              <a:t>36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4826AE-8467-4C60-AF7C-220900DBAFF0}" type="slidenum">
              <a:rPr lang="en-US"/>
              <a:pPr/>
              <a:t>37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56BA86-2214-4468-9421-D7B2E84BD10F}" type="slidenum">
              <a:rPr lang="en-US"/>
              <a:pPr/>
              <a:t>38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2EAFF-A367-46B2-8DA6-F8094E304F9F}" type="slidenum">
              <a:rPr lang="en-US"/>
              <a:pPr/>
              <a:t>39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7ED1A5-81C0-4E3F-A0DB-BCB173B6FEE1}" type="slidenum">
              <a:rPr lang="en-US"/>
              <a:pPr/>
              <a:t>41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dirty="0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 dirty="0">
              <a:latin typeface="Helvetica" pitchFamily="34" charset="0"/>
            </a:endParaRPr>
          </a:p>
          <a:p>
            <a:pPr eaLnBrk="1" hangingPunct="1"/>
            <a:r>
              <a:rPr lang="en-US" dirty="0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 dirty="0">
              <a:latin typeface="Helvetica" pitchFamily="34" charset="0"/>
            </a:endParaRPr>
          </a:p>
          <a:p>
            <a:pPr eaLnBrk="1" hangingPunct="1"/>
            <a:r>
              <a:rPr lang="en-US" dirty="0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 dirty="0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C1CE49-5C33-4E2E-B0A1-2C4CC7D98491}" type="slidenum">
              <a:rPr lang="en-US"/>
              <a:pPr/>
              <a:t>44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9FD9B-E41B-46C6-BF9C-982D988315E0}" type="slidenum">
              <a:rPr lang="en-US"/>
              <a:pPr/>
              <a:t>45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B99C8C-769A-4B20-85AE-379755DF3727}" type="slidenum">
              <a:rPr lang="en-US"/>
              <a:pPr/>
              <a:t>46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A2BBAC-090C-475D-B35A-854466AB702A}" type="slidenum">
              <a:rPr lang="en-US"/>
              <a:pPr/>
              <a:t>47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A4D6FB-D729-48CD-8A6B-2B09C6B93031}" type="slidenum">
              <a:rPr lang="en-US"/>
              <a:pPr/>
              <a:t>48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34" charset="0"/>
            </a:endParaRPr>
          </a:p>
          <a:p>
            <a:pPr eaLnBrk="1" hangingPunct="1"/>
            <a:r>
              <a:rPr lang="en-US">
                <a:latin typeface="Helvetica" pitchFamily="34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B6E07-00F4-4CC3-BB20-805577677B5E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4741-EA9F-444F-A4AD-735C7764C141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78B4-1DAB-45F1-BA21-DAF2946821B3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49EE8-CF5C-43A7-9B40-837E9D4F1C43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B8EE-A303-4737-91AA-E0B4CF63957F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3EEB-F496-426C-86BD-AB22761573ED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37AF-9CD0-4D97-AA3B-B9D94903E573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9C06-70BF-430A-8AA1-3194278C1326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2D2D-FDA2-4FD8-A881-E809FA3810CA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3BC0-5254-4677-A7FE-1791F468F059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B1EC-216C-4A27-9DA3-F58B77500F4F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37A45-817A-4ABF-9F33-F3D2245399A2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49E24-EC16-44A4-AE87-BD55817FAFD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6.xml" /><Relationship Id="rId4" Type="http://schemas.openxmlformats.org/officeDocument/2006/relationships/image" Target="../media/image8.png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7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ChangeArrowheads="1"/>
          </p:cNvSpPr>
          <p:nvPr/>
        </p:nvSpPr>
        <p:spPr bwMode="auto">
          <a:xfrm>
            <a:off x="609600" y="1524000"/>
            <a:ext cx="7848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4000" dirty="0">
                <a:latin typeface="Helvetica" pitchFamily="34" charset="0"/>
                <a:ea typeface="Helvetica" pitchFamily="34" charset="0"/>
                <a:cs typeface="Helvetica" pitchFamily="34" charset="0"/>
              </a:rPr>
              <a:t>Data Structures &amp; Algorithm</a:t>
            </a:r>
            <a:br>
              <a:rPr lang="en-US" sz="4000" dirty="0">
                <a:latin typeface="Helvetica" pitchFamily="34" charset="0"/>
                <a:ea typeface="Helvetica" pitchFamily="34" charset="0"/>
                <a:cs typeface="Helvetica" pitchFamily="34" charset="0"/>
              </a:rPr>
            </a:br>
            <a:r>
              <a:rPr lang="en-US" sz="4000" dirty="0">
                <a:latin typeface="Helvetica" pitchFamily="34" charset="0"/>
                <a:ea typeface="Helvetica" pitchFamily="34" charset="0"/>
                <a:cs typeface="Helvetica" pitchFamily="34" charset="0"/>
              </a:rPr>
              <a:t>CS-102</a:t>
            </a:r>
            <a:br>
              <a:rPr lang="en-US" sz="4400" dirty="0">
                <a:latin typeface="Helvetica" pitchFamily="34" charset="0"/>
                <a:ea typeface="Helvetica" pitchFamily="34" charset="0"/>
                <a:cs typeface="Helvetica" pitchFamily="34" charset="0"/>
              </a:rPr>
            </a:br>
            <a:endParaRPr lang="en-US" sz="4400" dirty="0">
              <a:latin typeface="Helvetica" pitchFamily="34" charset="0"/>
              <a:ea typeface="Helvetica" pitchFamily="34" charset="0"/>
              <a:cs typeface="Helvetica" pitchFamily="34" charset="0"/>
            </a:endParaRPr>
          </a:p>
          <a:p>
            <a:pPr algn="ctr">
              <a:spcBef>
                <a:spcPct val="0"/>
              </a:spcBef>
            </a:pPr>
            <a:r>
              <a:rPr lang="en-US" sz="4000" b="0" dirty="0">
                <a:latin typeface="Helvetica" pitchFamily="34" charset="0"/>
              </a:rPr>
              <a:t>Lecture 2 </a:t>
            </a:r>
            <a:endParaRPr lang="en-US" sz="4000" dirty="0">
              <a:latin typeface="Helvetica" pitchFamily="34" charset="0"/>
            </a:endParaRPr>
          </a:p>
          <a:p>
            <a:pPr algn="ctr">
              <a:spcBef>
                <a:spcPct val="0"/>
              </a:spcBef>
            </a:pPr>
            <a:br>
              <a:rPr lang="en-US" sz="4000" b="0" dirty="0">
                <a:latin typeface="Helvetica" pitchFamily="34" charset="0"/>
              </a:rPr>
            </a:br>
            <a:endParaRPr lang="en-US" sz="3600" dirty="0">
              <a:latin typeface="Helvetica" pitchFamily="34" charset="0"/>
              <a:ea typeface="Helvetica" pitchFamily="34" charset="0"/>
              <a:cs typeface="Helvetica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3600" b="0" dirty="0">
              <a:latin typeface="Helvetica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>
                <a:latin typeface="Helvetica" pitchFamily="34" charset="0"/>
              </a:rPr>
              <a:t>Linked List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611187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Create a structure called a </a:t>
            </a:r>
            <a:r>
              <a:rPr lang="en-US" sz="2800" i="1">
                <a:latin typeface="Helvetica" pitchFamily="34" charset="0"/>
              </a:rPr>
              <a:t>Node</a:t>
            </a:r>
            <a:r>
              <a:rPr lang="en-US" sz="2800">
                <a:latin typeface="Helvetica" pitchFamily="34" charset="0"/>
              </a:rPr>
              <a:t>.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endParaRPr lang="en-US" sz="2800">
              <a:latin typeface="Helvetica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62200" y="2362200"/>
            <a:ext cx="2514600" cy="685800"/>
            <a:chOff x="1392" y="1968"/>
            <a:chExt cx="1584" cy="432"/>
          </a:xfrm>
        </p:grpSpPr>
        <p:sp>
          <p:nvSpPr>
            <p:cNvPr id="306181" name="Rectangle 5"/>
            <p:cNvSpPr>
              <a:spLocks noChangeArrowheads="1"/>
            </p:cNvSpPr>
            <p:nvPr/>
          </p:nvSpPr>
          <p:spPr bwMode="auto">
            <a:xfrm>
              <a:off x="1392" y="1968"/>
              <a:ext cx="1584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182" name="Line 6"/>
            <p:cNvSpPr>
              <a:spLocks noChangeShapeType="1"/>
            </p:cNvSpPr>
            <p:nvPr/>
          </p:nvSpPr>
          <p:spPr bwMode="auto">
            <a:xfrm>
              <a:off x="2352" y="196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6183" name="Text Box 7"/>
            <p:cNvSpPr txBox="1">
              <a:spLocks noChangeArrowheads="1"/>
            </p:cNvSpPr>
            <p:nvPr/>
          </p:nvSpPr>
          <p:spPr bwMode="auto">
            <a:xfrm>
              <a:off x="1523" y="2054"/>
              <a:ext cx="68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b="0">
                  <a:latin typeface="Helvetica" pitchFamily="34" charset="0"/>
                </a:rPr>
                <a:t>object</a:t>
              </a:r>
            </a:p>
          </p:txBody>
        </p:sp>
        <p:sp>
          <p:nvSpPr>
            <p:cNvPr id="306184" name="Text Box 8"/>
            <p:cNvSpPr txBox="1">
              <a:spLocks noChangeArrowheads="1"/>
            </p:cNvSpPr>
            <p:nvPr/>
          </p:nvSpPr>
          <p:spPr bwMode="auto">
            <a:xfrm>
              <a:off x="2448" y="2054"/>
              <a:ext cx="4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b="0">
                  <a:latin typeface="Helvetica" pitchFamily="34" charset="0"/>
                </a:rPr>
                <a:t>next</a:t>
              </a:r>
            </a:p>
          </p:txBody>
        </p:sp>
      </p:grpSp>
      <p:sp>
        <p:nvSpPr>
          <p:cNvPr id="306185" name="Rectangle 9"/>
          <p:cNvSpPr>
            <a:spLocks noChangeArrowheads="1"/>
          </p:cNvSpPr>
          <p:nvPr/>
        </p:nvSpPr>
        <p:spPr bwMode="auto">
          <a:xfrm>
            <a:off x="457200" y="3505200"/>
            <a:ext cx="8305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 b="0">
                <a:latin typeface="Helvetica" pitchFamily="34" charset="0"/>
              </a:rPr>
              <a:t>The </a:t>
            </a:r>
            <a:r>
              <a:rPr lang="en-US" sz="2800" b="0" i="1">
                <a:latin typeface="Helvetica" pitchFamily="34" charset="0"/>
              </a:rPr>
              <a:t>object</a:t>
            </a:r>
            <a:r>
              <a:rPr lang="en-US" sz="2800" b="0">
                <a:latin typeface="Helvetica" pitchFamily="34" charset="0"/>
              </a:rPr>
              <a:t> field will hold the actual list element.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 b="0">
                <a:latin typeface="Helvetica" pitchFamily="34" charset="0"/>
              </a:rPr>
              <a:t>The </a:t>
            </a:r>
            <a:r>
              <a:rPr lang="en-US" sz="2800" b="0" i="1">
                <a:latin typeface="Helvetica" pitchFamily="34" charset="0"/>
              </a:rPr>
              <a:t>next</a:t>
            </a:r>
            <a:r>
              <a:rPr lang="en-US" sz="2800" b="0">
                <a:latin typeface="Helvetica" pitchFamily="34" charset="0"/>
              </a:rPr>
              <a:t> field in the structure will hold the starting location of the next node.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 b="0">
                <a:latin typeface="Helvetica" pitchFamily="34" charset="0"/>
              </a:rPr>
              <a:t>Chain the nodes together to form a </a:t>
            </a:r>
            <a:r>
              <a:rPr lang="en-US" sz="2800" b="0" i="1">
                <a:latin typeface="Helvetica" pitchFamily="34" charset="0"/>
              </a:rPr>
              <a:t>linked</a:t>
            </a:r>
            <a:r>
              <a:rPr lang="en-US" sz="2800" b="0">
                <a:latin typeface="Helvetica" pitchFamily="34" charset="0"/>
              </a:rPr>
              <a:t> list.</a:t>
            </a:r>
          </a:p>
          <a:p>
            <a:pPr marL="533400" indent="-533400">
              <a:lnSpc>
                <a:spcPct val="110000"/>
              </a:lnSpc>
            </a:pPr>
            <a:endParaRPr lang="en-US" sz="2800" b="0">
              <a:latin typeface="Helvetic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>
                <a:latin typeface="Helvetica" pitchFamily="34" charset="0"/>
              </a:rPr>
              <a:t>Linked List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915987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>
                <a:latin typeface="Helvetica" pitchFamily="34" charset="0"/>
              </a:rPr>
              <a:t>Picture of our list (2, 6, 7, 8, 1) stored as a linked list: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Char char="§"/>
            </a:pPr>
            <a:endParaRPr lang="en-US" sz="2800" dirty="0">
              <a:latin typeface="Helvetica" pitchFamily="34" charset="0"/>
            </a:endParaRP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284288" y="2863850"/>
            <a:ext cx="4945062" cy="1435100"/>
            <a:chOff x="809" y="1804"/>
            <a:chExt cx="3115" cy="904"/>
          </a:xfrm>
        </p:grpSpPr>
        <p:grpSp>
          <p:nvGrpSpPr>
            <p:cNvPr id="3" name="Group 33"/>
            <p:cNvGrpSpPr>
              <a:grpSpLocks/>
            </p:cNvGrpSpPr>
            <p:nvPr/>
          </p:nvGrpSpPr>
          <p:grpSpPr bwMode="auto">
            <a:xfrm>
              <a:off x="1248" y="2140"/>
              <a:ext cx="2016" cy="212"/>
              <a:chOff x="864" y="2016"/>
              <a:chExt cx="2016" cy="212"/>
            </a:xfrm>
          </p:grpSpPr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864" y="2016"/>
                <a:ext cx="432" cy="212"/>
                <a:chOff x="1488" y="1996"/>
                <a:chExt cx="432" cy="212"/>
              </a:xfrm>
            </p:grpSpPr>
            <p:sp>
              <p:nvSpPr>
                <p:cNvPr id="95237" name="Rectangle 5"/>
                <p:cNvSpPr>
                  <a:spLocks noChangeArrowheads="1"/>
                </p:cNvSpPr>
                <p:nvPr/>
              </p:nvSpPr>
              <p:spPr bwMode="auto">
                <a:xfrm>
                  <a:off x="1488" y="2016"/>
                  <a:ext cx="288" cy="19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38" name="Line 6"/>
                <p:cNvSpPr>
                  <a:spLocks noChangeShapeType="1"/>
                </p:cNvSpPr>
                <p:nvPr/>
              </p:nvSpPr>
              <p:spPr bwMode="auto">
                <a:xfrm>
                  <a:off x="1680" y="201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23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488" y="1996"/>
                  <a:ext cx="157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 b="0">
                      <a:latin typeface="Helvetica" pitchFamily="34" charset="0"/>
                    </a:rPr>
                    <a:t>2</a:t>
                  </a:r>
                </a:p>
              </p:txBody>
            </p:sp>
            <p:sp>
              <p:nvSpPr>
                <p:cNvPr id="95241" name="Line 9"/>
                <p:cNvSpPr>
                  <a:spLocks noChangeShapeType="1"/>
                </p:cNvSpPr>
                <p:nvPr/>
              </p:nvSpPr>
              <p:spPr bwMode="auto">
                <a:xfrm>
                  <a:off x="1728" y="211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arrow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5244" name="Rectangle 12"/>
              <p:cNvSpPr>
                <a:spLocks noChangeArrowheads="1"/>
              </p:cNvSpPr>
              <p:nvPr/>
            </p:nvSpPr>
            <p:spPr bwMode="auto">
              <a:xfrm>
                <a:off x="1296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45" name="Line 13"/>
              <p:cNvSpPr>
                <a:spLocks noChangeShapeType="1"/>
              </p:cNvSpPr>
              <p:nvPr/>
            </p:nvSpPr>
            <p:spPr bwMode="auto">
              <a:xfrm>
                <a:off x="1488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46" name="Text Box 14"/>
              <p:cNvSpPr txBox="1">
                <a:spLocks noChangeArrowheads="1"/>
              </p:cNvSpPr>
              <p:nvPr/>
            </p:nvSpPr>
            <p:spPr bwMode="auto">
              <a:xfrm>
                <a:off x="1296" y="2016"/>
                <a:ext cx="15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b="0">
                    <a:latin typeface="Helvetica" pitchFamily="34" charset="0"/>
                  </a:rPr>
                  <a:t>6</a:t>
                </a:r>
              </a:p>
            </p:txBody>
          </p:sp>
          <p:sp>
            <p:nvSpPr>
              <p:cNvPr id="95247" name="Line 15"/>
              <p:cNvSpPr>
                <a:spLocks noChangeShapeType="1"/>
              </p:cNvSpPr>
              <p:nvPr/>
            </p:nvSpPr>
            <p:spPr bwMode="auto">
              <a:xfrm>
                <a:off x="1536" y="21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49" name="Rectangle 17"/>
              <p:cNvSpPr>
                <a:spLocks noChangeArrowheads="1"/>
              </p:cNvSpPr>
              <p:nvPr/>
            </p:nvSpPr>
            <p:spPr bwMode="auto">
              <a:xfrm>
                <a:off x="1728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50" name="Line 18"/>
              <p:cNvSpPr>
                <a:spLocks noChangeShapeType="1"/>
              </p:cNvSpPr>
              <p:nvPr/>
            </p:nvSpPr>
            <p:spPr bwMode="auto">
              <a:xfrm>
                <a:off x="1920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1" name="Text Box 19"/>
              <p:cNvSpPr txBox="1">
                <a:spLocks noChangeArrowheads="1"/>
              </p:cNvSpPr>
              <p:nvPr/>
            </p:nvSpPr>
            <p:spPr bwMode="auto">
              <a:xfrm>
                <a:off x="1728" y="2016"/>
                <a:ext cx="15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b="0">
                    <a:latin typeface="Helvetica" pitchFamily="34" charset="0"/>
                  </a:rPr>
                  <a:t>8</a:t>
                </a:r>
              </a:p>
            </p:txBody>
          </p:sp>
          <p:sp>
            <p:nvSpPr>
              <p:cNvPr id="95252" name="Line 20"/>
              <p:cNvSpPr>
                <a:spLocks noChangeShapeType="1"/>
              </p:cNvSpPr>
              <p:nvPr/>
            </p:nvSpPr>
            <p:spPr bwMode="auto">
              <a:xfrm>
                <a:off x="1968" y="21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4" name="Rectangle 22"/>
              <p:cNvSpPr>
                <a:spLocks noChangeArrowheads="1"/>
              </p:cNvSpPr>
              <p:nvPr/>
            </p:nvSpPr>
            <p:spPr bwMode="auto">
              <a:xfrm>
                <a:off x="2160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55" name="Line 23"/>
              <p:cNvSpPr>
                <a:spLocks noChangeShapeType="1"/>
              </p:cNvSpPr>
              <p:nvPr/>
            </p:nvSpPr>
            <p:spPr bwMode="auto">
              <a:xfrm>
                <a:off x="2352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6" name="Text Box 24"/>
              <p:cNvSpPr txBox="1">
                <a:spLocks noChangeArrowheads="1"/>
              </p:cNvSpPr>
              <p:nvPr/>
            </p:nvSpPr>
            <p:spPr bwMode="auto">
              <a:xfrm>
                <a:off x="2160" y="2016"/>
                <a:ext cx="15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b="0">
                    <a:latin typeface="Helvetica" pitchFamily="34" charset="0"/>
                  </a:rPr>
                  <a:t>7</a:t>
                </a:r>
              </a:p>
            </p:txBody>
          </p:sp>
          <p:sp>
            <p:nvSpPr>
              <p:cNvPr id="95257" name="Line 25"/>
              <p:cNvSpPr>
                <a:spLocks noChangeShapeType="1"/>
              </p:cNvSpPr>
              <p:nvPr/>
            </p:nvSpPr>
            <p:spPr bwMode="auto">
              <a:xfrm>
                <a:off x="2400" y="21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9" name="Rectangle 27"/>
              <p:cNvSpPr>
                <a:spLocks noChangeArrowheads="1"/>
              </p:cNvSpPr>
              <p:nvPr/>
            </p:nvSpPr>
            <p:spPr bwMode="auto">
              <a:xfrm>
                <a:off x="2592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60" name="Line 28"/>
              <p:cNvSpPr>
                <a:spLocks noChangeShapeType="1"/>
              </p:cNvSpPr>
              <p:nvPr/>
            </p:nvSpPr>
            <p:spPr bwMode="auto">
              <a:xfrm>
                <a:off x="2784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63" name="Text Box 31"/>
              <p:cNvSpPr txBox="1">
                <a:spLocks noChangeArrowheads="1"/>
              </p:cNvSpPr>
              <p:nvPr/>
            </p:nvSpPr>
            <p:spPr bwMode="auto">
              <a:xfrm>
                <a:off x="2592" y="2016"/>
                <a:ext cx="15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b="0">
                    <a:latin typeface="Helvetica" pitchFamily="34" charset="0"/>
                  </a:rPr>
                  <a:t>1</a:t>
                </a:r>
              </a:p>
            </p:txBody>
          </p:sp>
          <p:sp>
            <p:nvSpPr>
              <p:cNvPr id="95264" name="Line 32"/>
              <p:cNvSpPr>
                <a:spLocks noChangeShapeType="1"/>
              </p:cNvSpPr>
              <p:nvPr/>
            </p:nvSpPr>
            <p:spPr bwMode="auto">
              <a:xfrm flipH="1">
                <a:off x="2784" y="2064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37"/>
            <p:cNvGrpSpPr>
              <a:grpSpLocks/>
            </p:cNvGrpSpPr>
            <p:nvPr/>
          </p:nvGrpSpPr>
          <p:grpSpPr bwMode="auto">
            <a:xfrm>
              <a:off x="809" y="1804"/>
              <a:ext cx="535" cy="356"/>
              <a:chOff x="809" y="1804"/>
              <a:chExt cx="535" cy="356"/>
            </a:xfrm>
          </p:grpSpPr>
          <p:sp>
            <p:nvSpPr>
              <p:cNvPr id="95266" name="Text Box 34"/>
              <p:cNvSpPr txBox="1">
                <a:spLocks noChangeArrowheads="1"/>
              </p:cNvSpPr>
              <p:nvPr/>
            </p:nvSpPr>
            <p:spPr bwMode="auto">
              <a:xfrm>
                <a:off x="809" y="1804"/>
                <a:ext cx="40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b="0" dirty="0">
                    <a:latin typeface="Helvetica" pitchFamily="34" charset="0"/>
                  </a:rPr>
                  <a:t>head</a:t>
                </a:r>
              </a:p>
            </p:txBody>
          </p:sp>
          <p:sp>
            <p:nvSpPr>
              <p:cNvPr id="95267" name="Line 35"/>
              <p:cNvSpPr>
                <a:spLocks noChangeShapeType="1"/>
              </p:cNvSpPr>
              <p:nvPr/>
            </p:nvSpPr>
            <p:spPr bwMode="auto">
              <a:xfrm>
                <a:off x="1200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68" name="Line 36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5271" name="Text Box 39"/>
            <p:cNvSpPr txBox="1">
              <a:spLocks noChangeArrowheads="1"/>
            </p:cNvSpPr>
            <p:nvPr/>
          </p:nvSpPr>
          <p:spPr bwMode="auto">
            <a:xfrm>
              <a:off x="1624" y="2496"/>
              <a:ext cx="5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current</a:t>
              </a:r>
            </a:p>
          </p:txBody>
        </p:sp>
        <p:sp>
          <p:nvSpPr>
            <p:cNvPr id="95272" name="Line 40"/>
            <p:cNvSpPr>
              <a:spLocks noChangeShapeType="1"/>
            </p:cNvSpPr>
            <p:nvPr/>
          </p:nvSpPr>
          <p:spPr bwMode="auto">
            <a:xfrm>
              <a:off x="2064" y="25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5273" name="Line 41"/>
            <p:cNvSpPr>
              <a:spLocks noChangeShapeType="1"/>
            </p:cNvSpPr>
            <p:nvPr/>
          </p:nvSpPr>
          <p:spPr bwMode="auto">
            <a:xfrm flipV="1">
              <a:off x="2208" y="23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5274" name="Text Box 42"/>
            <p:cNvSpPr txBox="1">
              <a:spLocks noChangeArrowheads="1"/>
            </p:cNvSpPr>
            <p:nvPr/>
          </p:nvSpPr>
          <p:spPr bwMode="auto">
            <a:xfrm>
              <a:off x="3435" y="2140"/>
              <a:ext cx="48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size=5</a:t>
              </a:r>
            </a:p>
          </p:txBody>
        </p:sp>
      </p:grpSp>
      <p:sp>
        <p:nvSpPr>
          <p:cNvPr id="95275" name="Rectangle 43"/>
          <p:cNvSpPr>
            <a:spLocks noChangeArrowheads="1"/>
          </p:cNvSpPr>
          <p:nvPr/>
        </p:nvSpPr>
        <p:spPr bwMode="auto">
          <a:xfrm>
            <a:off x="533400" y="4799013"/>
            <a:ext cx="822642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/>
            <a:endParaRPr lang="en-US" sz="2800" b="0">
              <a:latin typeface="Helvetica" pitchFamily="34" charset="0"/>
            </a:endParaRPr>
          </a:p>
          <a:p>
            <a:pPr marL="533400" indent="-533400">
              <a:buFont typeface="Wingdings" pitchFamily="2" charset="2"/>
              <a:buChar char="§"/>
            </a:pPr>
            <a:endParaRPr lang="en-US" sz="2800" b="0">
              <a:latin typeface="Helvetica" pitchFamily="34" charset="0"/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Link List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76400"/>
            <a:ext cx="63055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657600"/>
            <a:ext cx="67341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>
                <a:latin typeface="Helvetica" pitchFamily="34" charset="0"/>
              </a:rPr>
              <a:t>Linked List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725987"/>
          </a:xfrm>
        </p:spPr>
        <p:txBody>
          <a:bodyPr/>
          <a:lstStyle/>
          <a:p>
            <a:pPr marL="533400" indent="-533400">
              <a:lnSpc>
                <a:spcPct val="110000"/>
              </a:lnSpc>
              <a:buFont typeface="Wingdings" pitchFamily="2" charset="2"/>
              <a:buNone/>
            </a:pPr>
            <a:r>
              <a:rPr lang="en-US" sz="2800">
                <a:latin typeface="Helvetica" pitchFamily="34" charset="0"/>
              </a:rPr>
              <a:t>Note some features of the list: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Need a </a:t>
            </a:r>
            <a:r>
              <a:rPr lang="en-US" sz="2800" i="1">
                <a:latin typeface="Helvetica" pitchFamily="34" charset="0"/>
              </a:rPr>
              <a:t>head</a:t>
            </a:r>
            <a:r>
              <a:rPr lang="en-US" sz="2800">
                <a:latin typeface="Helvetica" pitchFamily="34" charset="0"/>
              </a:rPr>
              <a:t> to point to the first node of the list. Otherwise we won’t know where the start of the list is.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The </a:t>
            </a:r>
            <a:r>
              <a:rPr lang="en-US" sz="2800" i="1">
                <a:latin typeface="Helvetica" pitchFamily="34" charset="0"/>
              </a:rPr>
              <a:t>current</a:t>
            </a:r>
            <a:r>
              <a:rPr lang="en-US" sz="2800">
                <a:latin typeface="Helvetica" pitchFamily="34" charset="0"/>
              </a:rPr>
              <a:t> here is a pointer, not an index.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The next field in the last node points to </a:t>
            </a:r>
            <a:r>
              <a:rPr lang="en-US" sz="2800" i="1">
                <a:latin typeface="Helvetica" pitchFamily="34" charset="0"/>
              </a:rPr>
              <a:t>nothing</a:t>
            </a:r>
            <a:r>
              <a:rPr lang="en-US" sz="2800">
                <a:latin typeface="Helvetica" pitchFamily="34" charset="0"/>
              </a:rPr>
              <a:t>. We will place the memory address NULL which is guaranteed to be inaccessible.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Char char="§"/>
            </a:pPr>
            <a:endParaRPr lang="en-US" sz="280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Operations on Linked List: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 There are several operations associated with linked list i.e.</a:t>
            </a:r>
          </a:p>
          <a:p>
            <a:pPr>
              <a:buNone/>
            </a:pPr>
            <a:r>
              <a:rPr lang="en-US" b="1" dirty="0"/>
              <a:t>    a) Traversing a Linked List</a:t>
            </a:r>
          </a:p>
          <a:p>
            <a:pPr>
              <a:buNone/>
            </a:pPr>
            <a:r>
              <a:rPr lang="en-US" b="1" dirty="0"/>
              <a:t>    </a:t>
            </a:r>
            <a:r>
              <a:rPr lang="en-US" dirty="0"/>
              <a:t>Suppose we want to traverse LIST in order to process each node exactly once. The traversing algorithm uses a pointer variable PTR which points to the node that is currently being processed. Accordingly, PTR-&gt;NEXT points to the next node to be processed so,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90600" y="3733800"/>
            <a:ext cx="7239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04800" y="1143000"/>
            <a:ext cx="8458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PTR:=START  [ Moves the pointer to the first node of the 	</a:t>
            </a:r>
          </a:p>
          <a:p>
            <a:r>
              <a:rPr lang="en-US" sz="2800" dirty="0"/>
              <a:t>                        list]</a:t>
            </a:r>
          </a:p>
          <a:p>
            <a:r>
              <a:rPr lang="en-US" sz="2800" dirty="0"/>
              <a:t>PTR:=LINK[PTR]  [ Moves the pointer to the next node in 	</a:t>
            </a:r>
          </a:p>
          <a:p>
            <a:r>
              <a:rPr lang="en-US" sz="2800" dirty="0"/>
              <a:t>                               the list.]</a:t>
            </a:r>
          </a:p>
          <a:p>
            <a:r>
              <a:rPr lang="en-US" sz="2800" dirty="0"/>
              <a:t>INFO[PTR]  [Process information at the node]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381000"/>
            <a:ext cx="8763000" cy="6172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     </a:t>
            </a:r>
            <a:r>
              <a:rPr lang="en-US" sz="3300" b="1" dirty="0"/>
              <a:t>Algorithm: </a:t>
            </a:r>
            <a:r>
              <a:rPr lang="en-US" sz="3300" dirty="0"/>
              <a:t>(Traversing a Linked List) Let LIST be a linked list in memory. This algorithm traverses LIST, applying an operation PROCESS to each element of list. The variable PTR point to the node currently being processed.</a:t>
            </a:r>
          </a:p>
          <a:p>
            <a:pPr>
              <a:buNone/>
            </a:pPr>
            <a:endParaRPr lang="en-US" sz="3300" dirty="0"/>
          </a:p>
          <a:p>
            <a:pPr lvl="1">
              <a:buNone/>
            </a:pPr>
            <a:r>
              <a:rPr lang="en-US" sz="3300" dirty="0"/>
              <a:t>1. Set PTR:=START. [Initializes pointer PTR.]</a:t>
            </a:r>
          </a:p>
          <a:p>
            <a:pPr lvl="1">
              <a:buNone/>
            </a:pPr>
            <a:r>
              <a:rPr lang="en-US" sz="3300" dirty="0"/>
              <a:t>2. Repeat Steps 3 and 4 while PTR ≠ NULL.</a:t>
            </a:r>
          </a:p>
          <a:p>
            <a:pPr lvl="1">
              <a:buNone/>
            </a:pPr>
            <a:r>
              <a:rPr lang="en-US" sz="3300" dirty="0"/>
              <a:t>3.     Apply PROCESS to INFO[PTR].</a:t>
            </a:r>
          </a:p>
          <a:p>
            <a:pPr marL="971550" lvl="1" indent="-514350">
              <a:buAutoNum type="arabicPeriod" startAt="4"/>
            </a:pPr>
            <a:r>
              <a:rPr lang="en-US" sz="3300" dirty="0"/>
              <a:t>  Set PTR:= LINK[PTR]. [PTR now points to the   next node]</a:t>
            </a:r>
          </a:p>
          <a:p>
            <a:pPr lvl="1">
              <a:buNone/>
            </a:pPr>
            <a:r>
              <a:rPr lang="en-US" sz="3300" dirty="0"/>
              <a:t>    [End of Step 2 loop.]</a:t>
            </a:r>
          </a:p>
          <a:p>
            <a:pPr lvl="1">
              <a:buNone/>
            </a:pPr>
            <a:r>
              <a:rPr lang="en-US" sz="3300" dirty="0"/>
              <a:t>5. Exit.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b) Searching a Linked List:(UNSORTED LIST)</a:t>
            </a:r>
          </a:p>
          <a:p>
            <a:r>
              <a:rPr lang="en-US" dirty="0"/>
              <a:t>Suppose the data in LIST are not necessarily sorted. Then one searches for ITEM in LIST by traversing through the list using a pointer variable PTR and comparing ITEM with the contents INFO[PTR] of each node, one by one, of LIST. Before we update the pointer PTR by PTR:=LINKPTR], we require two tests. First we have to check to see whether we have reached the end of the LIST i.e. PTR=NULL. If not, then we check to see whether INFO[PTR]=ITEM.</a:t>
            </a:r>
          </a:p>
          <a:p>
            <a:r>
              <a:rPr lang="en-US" dirty="0"/>
              <a:t>The two tests cannot be performed at the same time, since INFO[PTR] is not defined when PTR=NULL. Accordingly we use the First test to control the execution of a loop, and we let the second test take place inside the loop.</a:t>
            </a:r>
          </a:p>
          <a:p>
            <a:endParaRPr lang="en-US" dirty="0"/>
          </a:p>
          <a:p>
            <a:r>
              <a:rPr lang="en-US" b="1" dirty="0"/>
              <a:t>Algorithm: SEARCH(INFO, LINK,START, ITEM, LOC)</a:t>
            </a:r>
          </a:p>
          <a:p>
            <a:r>
              <a:rPr lang="en-US" dirty="0"/>
              <a:t>LIST is a linked list in the memory. This algorithm finds the location LOC of the node where ITEM first appear in LIST, or sets LOC=NULL.</a:t>
            </a:r>
          </a:p>
          <a:p>
            <a:r>
              <a:rPr lang="en-US" dirty="0"/>
              <a:t>1. Set PTR:=START.</a:t>
            </a:r>
          </a:p>
          <a:p>
            <a:r>
              <a:rPr lang="en-US" dirty="0"/>
              <a:t>2. Repeat Step 3 while PTR≠NULL:</a:t>
            </a:r>
          </a:p>
          <a:p>
            <a:r>
              <a:rPr lang="en-US" dirty="0"/>
              <a:t>3.           If ITEM = INFO[PTR], then:</a:t>
            </a:r>
          </a:p>
          <a:p>
            <a:r>
              <a:rPr lang="en-US" dirty="0"/>
              <a:t>                     Set LOC:=PTR, and Exit.  [Search is successful.]</a:t>
            </a:r>
          </a:p>
          <a:p>
            <a:r>
              <a:rPr lang="en-US" dirty="0"/>
              <a:t>              Else: </a:t>
            </a:r>
          </a:p>
          <a:p>
            <a:r>
              <a:rPr lang="en-US" dirty="0"/>
              <a:t>                     Set PTR:=LINK[PTR].  [PTR now points to the  next node]</a:t>
            </a:r>
          </a:p>
          <a:p>
            <a:r>
              <a:rPr lang="en-US" dirty="0"/>
              <a:t>              [End of If structure.]</a:t>
            </a:r>
          </a:p>
          <a:p>
            <a:r>
              <a:rPr lang="en-US" dirty="0"/>
              <a:t>     [End of Step 2 loop.]</a:t>
            </a:r>
          </a:p>
          <a:p>
            <a:r>
              <a:rPr lang="en-US" dirty="0"/>
              <a:t>4. Set LOC:=NULL.   [Search is unsuccessful.]</a:t>
            </a:r>
          </a:p>
          <a:p>
            <a:r>
              <a:rPr lang="en-US" dirty="0"/>
              <a:t>5. Exit.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07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b) Searching a Linked List:(SORTED LIST)</a:t>
            </a:r>
            <a:br>
              <a:rPr lang="en-US" sz="2000" b="1" dirty="0"/>
            </a:br>
            <a:r>
              <a:rPr lang="en-US" dirty="0"/>
              <a:t>Suppose the data in LIST are sorted. Again we search for ITEM in LIST by traversing the list using a pointer variable PTR and comparing ITEM with the contents INFO[PTR] of each node, one by one, of LIST. Now, however, we can stop once ITEM exceeds INFO[PTR]. (List sorted in descending order)</a:t>
            </a:r>
          </a:p>
          <a:p>
            <a:endParaRPr lang="en-US" dirty="0"/>
          </a:p>
          <a:p>
            <a:r>
              <a:rPr lang="en-US" b="1" dirty="0"/>
              <a:t>Algorithm: SRCHSL(INFO, LINK,START, ITEM, LOC)</a:t>
            </a:r>
            <a:br>
              <a:rPr lang="en-US" b="1" dirty="0"/>
            </a:br>
            <a:r>
              <a:rPr lang="en-US" dirty="0"/>
              <a:t>LIST is sorted list in memory. This algorithm finds the location LOC of the node where ITEM first appear in LIST, or sets LOC=NULL.</a:t>
            </a:r>
          </a:p>
          <a:p>
            <a:br>
              <a:rPr lang="en-US" dirty="0"/>
            </a:br>
            <a:r>
              <a:rPr lang="en-US" dirty="0"/>
              <a:t>1. Set PTR:=START.</a:t>
            </a:r>
            <a:br>
              <a:rPr lang="en-US" dirty="0"/>
            </a:br>
            <a:r>
              <a:rPr lang="en-US" dirty="0"/>
              <a:t>2. Repeat Step 3 while PTR≠NULL:</a:t>
            </a:r>
            <a:br>
              <a:rPr lang="en-US" dirty="0"/>
            </a:br>
            <a:r>
              <a:rPr lang="en-US" dirty="0"/>
              <a:t>3.           If ITEM &lt; INFO[PTR], then:    </a:t>
            </a:r>
          </a:p>
          <a:p>
            <a:r>
              <a:rPr lang="en-US" dirty="0"/>
              <a:t>                     Set PTR:=LINK[PTR].  [PTR now points to the  next node] </a:t>
            </a:r>
            <a:br>
              <a:rPr lang="en-US" dirty="0"/>
            </a:br>
            <a:r>
              <a:rPr lang="en-US" dirty="0"/>
              <a:t>              Else If ITEM=INFO[PTR],then      </a:t>
            </a:r>
          </a:p>
          <a:p>
            <a:r>
              <a:rPr lang="en-US" dirty="0"/>
              <a:t>                    Set LOC:=PTR, and Exit.  [Search is successful.]</a:t>
            </a:r>
            <a:br>
              <a:rPr lang="en-US" dirty="0"/>
            </a:br>
            <a:r>
              <a:rPr lang="en-US" dirty="0"/>
              <a:t>              Else: </a:t>
            </a:r>
            <a:br>
              <a:rPr lang="en-US" dirty="0"/>
            </a:br>
            <a:r>
              <a:rPr lang="en-US" dirty="0"/>
              <a:t>                    LOC:=NULL , and Exit. [ITEM now exceeds INFO[PTR].]</a:t>
            </a:r>
            <a:br>
              <a:rPr lang="en-US" dirty="0"/>
            </a:br>
            <a:r>
              <a:rPr lang="en-US" dirty="0"/>
              <a:t>              [End of If structure.]</a:t>
            </a:r>
            <a:br>
              <a:rPr lang="en-US" dirty="0"/>
            </a:br>
            <a:r>
              <a:rPr lang="en-US" dirty="0"/>
              <a:t>     [End of Step 2 loop.]</a:t>
            </a:r>
            <a:br>
              <a:rPr lang="en-US" dirty="0"/>
            </a:br>
            <a:r>
              <a:rPr lang="en-US" dirty="0"/>
              <a:t>4. Set LOC:=NULL. </a:t>
            </a:r>
            <a:br>
              <a:rPr lang="en-US" dirty="0"/>
            </a:br>
            <a:r>
              <a:rPr lang="en-US" dirty="0"/>
              <a:t>5. Exit.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86868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2200" b="1" dirty="0"/>
              <a:t>Search Linked List for insertion and deletion of Nodes:</a:t>
            </a:r>
          </a:p>
          <a:p>
            <a:r>
              <a:rPr lang="en-US" sz="2200" dirty="0"/>
              <a:t>Both insertion and deletion operations need searching the linked list.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To add a new node, we must identify the logical predecessor (address of previous node) where  the new node is to be inserting.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To delete a node, we must identify the location (addresses) of the node to be deleted and its logical predecessor (previous node).</a:t>
            </a:r>
          </a:p>
          <a:p>
            <a:endParaRPr lang="en-US" sz="2200" b="1" dirty="0"/>
          </a:p>
          <a:p>
            <a:r>
              <a:rPr lang="en-US" sz="2200" b="1" dirty="0"/>
              <a:t>Basic Search Concept</a:t>
            </a:r>
          </a:p>
          <a:p>
            <a:r>
              <a:rPr lang="en-US" sz="2200" dirty="0"/>
              <a:t>Assume there is a sorted linked list and we wish that after each insertion/deletion this list should always be sorted. Given a target value, the search attempts to locate the requested node in the linked list.</a:t>
            </a:r>
          </a:p>
          <a:p>
            <a:r>
              <a:rPr lang="en-US" sz="2200" dirty="0"/>
              <a:t>Since nodes in a linked list have no names, we use two pointers, </a:t>
            </a:r>
            <a:r>
              <a:rPr lang="en-US" sz="2200" b="1" dirty="0"/>
              <a:t>pre (for previous)</a:t>
            </a:r>
            <a:r>
              <a:rPr lang="en-US" sz="2200" dirty="0"/>
              <a:t>and </a:t>
            </a:r>
            <a:r>
              <a:rPr lang="en-US" sz="2200" b="1" dirty="0"/>
              <a:t>cur (for current) nodes. At the beginning of the search, the pre pointer is null </a:t>
            </a:r>
            <a:r>
              <a:rPr lang="en-US" sz="2200" dirty="0"/>
              <a:t>and the </a:t>
            </a:r>
            <a:r>
              <a:rPr lang="en-US" sz="2200" b="1" dirty="0"/>
              <a:t>cur pointer points to the first node (Head). The search algorithm moves the </a:t>
            </a:r>
            <a:r>
              <a:rPr lang="en-US" sz="2200" dirty="0"/>
              <a:t>two pointers together towards the end of the list. Following Figure shows the movement of these two pointers through the list in an extreme case scenario: when the target value is larger than any value in the list.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81000"/>
            <a:ext cx="86391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600200" y="6019800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Moving of </a:t>
            </a:r>
            <a:r>
              <a:rPr lang="en-US" b="1" i="1" dirty="0"/>
              <a:t>pre and cur pointers in searching a linked list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/>
          <a:srcRect l="13942" t="11111" r="29327" b="3846"/>
          <a:stretch>
            <a:fillRect/>
          </a:stretch>
        </p:blipFill>
        <p:spPr bwMode="auto">
          <a:xfrm>
            <a:off x="381000" y="533400"/>
            <a:ext cx="8382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0" y="15240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Values of </a:t>
            </a:r>
            <a:r>
              <a:rPr lang="en-US" b="1" i="1" dirty="0"/>
              <a:t>pre and cur pointers in different cases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Linked List Operations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6425" cy="1600200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400">
                <a:latin typeface="Helvetica" pitchFamily="34" charset="0"/>
              </a:rPr>
              <a:t>add(9): Create a new node in memory to hold ‘9’</a:t>
            </a:r>
            <a:br>
              <a:rPr lang="en-US" sz="2400">
                <a:latin typeface="Helvetica" pitchFamily="34" charset="0"/>
              </a:rPr>
            </a:br>
            <a:br>
              <a:rPr lang="en-US" sz="2400">
                <a:latin typeface="Helvetica" pitchFamily="34" charset="0"/>
              </a:rPr>
            </a:br>
            <a:r>
              <a:rPr lang="en-US" sz="2400">
                <a:latin typeface="Helvetica" pitchFamily="34" charset="0"/>
              </a:rPr>
              <a:t>	</a:t>
            </a:r>
            <a:r>
              <a:rPr lang="en-US" sz="1800">
                <a:latin typeface="Helvetica" pitchFamily="34" charset="0"/>
              </a:rPr>
              <a:t>Node* newNode = new Node(9);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400">
              <a:latin typeface="Helvetica" pitchFamily="34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latin typeface="Helvetica" pitchFamily="34" charset="0"/>
              </a:rPr>
              <a:t>    </a:t>
            </a:r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5486400" y="2209800"/>
            <a:ext cx="2133600" cy="336550"/>
            <a:chOff x="1392" y="2188"/>
            <a:chExt cx="1344" cy="212"/>
          </a:xfrm>
        </p:grpSpPr>
        <p:sp>
          <p:nvSpPr>
            <p:cNvPr id="4101" name="Rectangle 7"/>
            <p:cNvSpPr>
              <a:spLocks noChangeArrowheads="1"/>
            </p:cNvSpPr>
            <p:nvPr/>
          </p:nvSpPr>
          <p:spPr bwMode="auto">
            <a:xfrm>
              <a:off x="2448" y="2208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" name="Line 8"/>
            <p:cNvSpPr>
              <a:spLocks noChangeShapeType="1"/>
            </p:cNvSpPr>
            <p:nvPr/>
          </p:nvSpPr>
          <p:spPr bwMode="auto">
            <a:xfrm>
              <a:off x="2640" y="22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3" name="Text Box 9"/>
            <p:cNvSpPr txBox="1">
              <a:spLocks noChangeArrowheads="1"/>
            </p:cNvSpPr>
            <p:nvPr/>
          </p:nvSpPr>
          <p:spPr bwMode="auto">
            <a:xfrm>
              <a:off x="2448" y="2188"/>
              <a:ext cx="20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9</a:t>
              </a:r>
            </a:p>
          </p:txBody>
        </p:sp>
        <p:sp>
          <p:nvSpPr>
            <p:cNvPr id="4104" name="Text Box 28"/>
            <p:cNvSpPr txBox="1">
              <a:spLocks noChangeArrowheads="1"/>
            </p:cNvSpPr>
            <p:nvPr/>
          </p:nvSpPr>
          <p:spPr bwMode="auto">
            <a:xfrm>
              <a:off x="1392" y="2188"/>
              <a:ext cx="65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newNode</a:t>
              </a:r>
            </a:p>
          </p:txBody>
        </p:sp>
        <p:sp>
          <p:nvSpPr>
            <p:cNvPr id="4105" name="Line 36"/>
            <p:cNvSpPr>
              <a:spLocks noChangeShapeType="1"/>
            </p:cNvSpPr>
            <p:nvPr/>
          </p:nvSpPr>
          <p:spPr bwMode="auto">
            <a:xfrm>
              <a:off x="2016" y="230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Linked List Operations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6425" cy="1600200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400">
                <a:latin typeface="Helvetica" pitchFamily="34" charset="0"/>
              </a:rPr>
              <a:t>add(9): Create a new node in memory to hold ‘9’</a:t>
            </a:r>
            <a:br>
              <a:rPr lang="en-US" sz="2400">
                <a:latin typeface="Helvetica" pitchFamily="34" charset="0"/>
              </a:rPr>
            </a:br>
            <a:br>
              <a:rPr lang="en-US" sz="2400">
                <a:latin typeface="Helvetica" pitchFamily="34" charset="0"/>
              </a:rPr>
            </a:br>
            <a:r>
              <a:rPr lang="en-US" sz="2400">
                <a:latin typeface="Helvetica" pitchFamily="34" charset="0"/>
              </a:rPr>
              <a:t>	</a:t>
            </a:r>
            <a:r>
              <a:rPr lang="en-US" sz="1800">
                <a:latin typeface="Helvetica" pitchFamily="34" charset="0"/>
              </a:rPr>
              <a:t>Node* newNode = new Node(9);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400">
              <a:latin typeface="Helvetica" pitchFamily="34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400">
                <a:latin typeface="Helvetica" pitchFamily="34" charset="0"/>
              </a:rPr>
              <a:t>Link the new node into the list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486400" y="2209800"/>
            <a:ext cx="2133600" cy="336550"/>
            <a:chOff x="1392" y="2188"/>
            <a:chExt cx="1344" cy="212"/>
          </a:xfrm>
        </p:grpSpPr>
        <p:sp>
          <p:nvSpPr>
            <p:cNvPr id="5172" name="Rectangle 5"/>
            <p:cNvSpPr>
              <a:spLocks noChangeArrowheads="1"/>
            </p:cNvSpPr>
            <p:nvPr/>
          </p:nvSpPr>
          <p:spPr bwMode="auto">
            <a:xfrm>
              <a:off x="2448" y="2208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3" name="Line 6"/>
            <p:cNvSpPr>
              <a:spLocks noChangeShapeType="1"/>
            </p:cNvSpPr>
            <p:nvPr/>
          </p:nvSpPr>
          <p:spPr bwMode="auto">
            <a:xfrm>
              <a:off x="2640" y="22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4" name="Text Box 7"/>
            <p:cNvSpPr txBox="1">
              <a:spLocks noChangeArrowheads="1"/>
            </p:cNvSpPr>
            <p:nvPr/>
          </p:nvSpPr>
          <p:spPr bwMode="auto">
            <a:xfrm>
              <a:off x="2448" y="2188"/>
              <a:ext cx="20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9</a:t>
              </a:r>
            </a:p>
          </p:txBody>
        </p:sp>
        <p:sp>
          <p:nvSpPr>
            <p:cNvPr id="5175" name="Text Box 8"/>
            <p:cNvSpPr txBox="1">
              <a:spLocks noChangeArrowheads="1"/>
            </p:cNvSpPr>
            <p:nvPr/>
          </p:nvSpPr>
          <p:spPr bwMode="auto">
            <a:xfrm>
              <a:off x="1392" y="2188"/>
              <a:ext cx="65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newNode</a:t>
              </a:r>
            </a:p>
          </p:txBody>
        </p:sp>
        <p:sp>
          <p:nvSpPr>
            <p:cNvPr id="5176" name="Line 9"/>
            <p:cNvSpPr>
              <a:spLocks noChangeShapeType="1"/>
            </p:cNvSpPr>
            <p:nvPr/>
          </p:nvSpPr>
          <p:spPr bwMode="auto">
            <a:xfrm>
              <a:off x="2016" y="230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524000" y="3505200"/>
            <a:ext cx="5553075" cy="2362200"/>
            <a:chOff x="960" y="2208"/>
            <a:chExt cx="3498" cy="1488"/>
          </a:xfrm>
        </p:grpSpPr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399" y="2544"/>
              <a:ext cx="432" cy="212"/>
              <a:chOff x="1488" y="1996"/>
              <a:chExt cx="432" cy="212"/>
            </a:xfrm>
          </p:grpSpPr>
          <p:sp>
            <p:nvSpPr>
              <p:cNvPr id="5168" name="Rectangle 12"/>
              <p:cNvSpPr>
                <a:spLocks noChangeArrowheads="1"/>
              </p:cNvSpPr>
              <p:nvPr/>
            </p:nvSpPr>
            <p:spPr bwMode="auto">
              <a:xfrm>
                <a:off x="1488" y="201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69" name="Line 13"/>
              <p:cNvSpPr>
                <a:spLocks noChangeShapeType="1"/>
              </p:cNvSpPr>
              <p:nvPr/>
            </p:nvSpPr>
            <p:spPr bwMode="auto">
              <a:xfrm>
                <a:off x="1680" y="20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0" name="Text Box 14"/>
              <p:cNvSpPr txBox="1">
                <a:spLocks noChangeArrowheads="1"/>
              </p:cNvSpPr>
              <p:nvPr/>
            </p:nvSpPr>
            <p:spPr bwMode="auto">
              <a:xfrm>
                <a:off x="1488" y="1996"/>
                <a:ext cx="15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b="0">
                    <a:latin typeface="Helvetica" pitchFamily="34" charset="0"/>
                  </a:rPr>
                  <a:t>2</a:t>
                </a:r>
              </a:p>
            </p:txBody>
          </p:sp>
          <p:sp>
            <p:nvSpPr>
              <p:cNvPr id="5171" name="Line 15"/>
              <p:cNvSpPr>
                <a:spLocks noChangeShapeType="1"/>
              </p:cNvSpPr>
              <p:nvPr/>
            </p:nvSpPr>
            <p:spPr bwMode="auto">
              <a:xfrm>
                <a:off x="1728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7" name="Rectangle 16"/>
            <p:cNvSpPr>
              <a:spLocks noChangeArrowheads="1"/>
            </p:cNvSpPr>
            <p:nvPr/>
          </p:nvSpPr>
          <p:spPr bwMode="auto">
            <a:xfrm>
              <a:off x="1831" y="2564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" name="Line 17"/>
            <p:cNvSpPr>
              <a:spLocks noChangeShapeType="1"/>
            </p:cNvSpPr>
            <p:nvPr/>
          </p:nvSpPr>
          <p:spPr bwMode="auto">
            <a:xfrm>
              <a:off x="2023" y="25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Text Box 18"/>
            <p:cNvSpPr txBox="1">
              <a:spLocks noChangeArrowheads="1"/>
            </p:cNvSpPr>
            <p:nvPr/>
          </p:nvSpPr>
          <p:spPr bwMode="auto">
            <a:xfrm>
              <a:off x="1831" y="2544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6</a:t>
              </a:r>
            </a:p>
          </p:txBody>
        </p:sp>
        <p:sp>
          <p:nvSpPr>
            <p:cNvPr id="5130" name="Line 19"/>
            <p:cNvSpPr>
              <a:spLocks noChangeShapeType="1"/>
            </p:cNvSpPr>
            <p:nvPr/>
          </p:nvSpPr>
          <p:spPr bwMode="auto">
            <a:xfrm>
              <a:off x="2071" y="266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1" name="Rectangle 20"/>
            <p:cNvSpPr>
              <a:spLocks noChangeArrowheads="1"/>
            </p:cNvSpPr>
            <p:nvPr/>
          </p:nvSpPr>
          <p:spPr bwMode="auto">
            <a:xfrm>
              <a:off x="2263" y="2564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2" name="Line 21"/>
            <p:cNvSpPr>
              <a:spLocks noChangeShapeType="1"/>
            </p:cNvSpPr>
            <p:nvPr/>
          </p:nvSpPr>
          <p:spPr bwMode="auto">
            <a:xfrm>
              <a:off x="2455" y="25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Text Box 22"/>
            <p:cNvSpPr txBox="1">
              <a:spLocks noChangeArrowheads="1"/>
            </p:cNvSpPr>
            <p:nvPr/>
          </p:nvSpPr>
          <p:spPr bwMode="auto">
            <a:xfrm>
              <a:off x="2263" y="2544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8</a:t>
              </a:r>
            </a:p>
          </p:txBody>
        </p:sp>
        <p:sp>
          <p:nvSpPr>
            <p:cNvPr id="5134" name="Rectangle 23"/>
            <p:cNvSpPr>
              <a:spLocks noChangeArrowheads="1"/>
            </p:cNvSpPr>
            <p:nvPr/>
          </p:nvSpPr>
          <p:spPr bwMode="auto">
            <a:xfrm>
              <a:off x="3024" y="2564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Line 24"/>
            <p:cNvSpPr>
              <a:spLocks noChangeShapeType="1"/>
            </p:cNvSpPr>
            <p:nvPr/>
          </p:nvSpPr>
          <p:spPr bwMode="auto">
            <a:xfrm>
              <a:off x="3216" y="25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Text Box 25"/>
            <p:cNvSpPr txBox="1">
              <a:spLocks noChangeArrowheads="1"/>
            </p:cNvSpPr>
            <p:nvPr/>
          </p:nvSpPr>
          <p:spPr bwMode="auto">
            <a:xfrm>
              <a:off x="3024" y="2544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7</a:t>
              </a:r>
            </a:p>
          </p:txBody>
        </p:sp>
        <p:sp>
          <p:nvSpPr>
            <p:cNvPr id="5137" name="Line 26"/>
            <p:cNvSpPr>
              <a:spLocks noChangeShapeType="1"/>
            </p:cNvSpPr>
            <p:nvPr/>
          </p:nvSpPr>
          <p:spPr bwMode="auto">
            <a:xfrm>
              <a:off x="3264" y="266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Rectangle 27"/>
            <p:cNvSpPr>
              <a:spLocks noChangeArrowheads="1"/>
            </p:cNvSpPr>
            <p:nvPr/>
          </p:nvSpPr>
          <p:spPr bwMode="auto">
            <a:xfrm>
              <a:off x="3456" y="2564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Line 28"/>
            <p:cNvSpPr>
              <a:spLocks noChangeShapeType="1"/>
            </p:cNvSpPr>
            <p:nvPr/>
          </p:nvSpPr>
          <p:spPr bwMode="auto">
            <a:xfrm>
              <a:off x="3648" y="25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Text Box 29"/>
            <p:cNvSpPr txBox="1">
              <a:spLocks noChangeArrowheads="1"/>
            </p:cNvSpPr>
            <p:nvPr/>
          </p:nvSpPr>
          <p:spPr bwMode="auto">
            <a:xfrm>
              <a:off x="3456" y="2544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1</a:t>
              </a:r>
            </a:p>
          </p:txBody>
        </p:sp>
        <p:sp>
          <p:nvSpPr>
            <p:cNvPr id="5141" name="Line 30"/>
            <p:cNvSpPr>
              <a:spLocks noChangeShapeType="1"/>
            </p:cNvSpPr>
            <p:nvPr/>
          </p:nvSpPr>
          <p:spPr bwMode="auto">
            <a:xfrm flipH="1">
              <a:off x="3648" y="259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31"/>
            <p:cNvGrpSpPr>
              <a:grpSpLocks/>
            </p:cNvGrpSpPr>
            <p:nvPr/>
          </p:nvGrpSpPr>
          <p:grpSpPr bwMode="auto">
            <a:xfrm>
              <a:off x="960" y="2208"/>
              <a:ext cx="535" cy="356"/>
              <a:chOff x="809" y="1804"/>
              <a:chExt cx="535" cy="356"/>
            </a:xfrm>
          </p:grpSpPr>
          <p:sp>
            <p:nvSpPr>
              <p:cNvPr id="5165" name="Text Box 32"/>
              <p:cNvSpPr txBox="1">
                <a:spLocks noChangeArrowheads="1"/>
              </p:cNvSpPr>
              <p:nvPr/>
            </p:nvSpPr>
            <p:spPr bwMode="auto">
              <a:xfrm>
                <a:off x="809" y="1804"/>
                <a:ext cx="40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b="0">
                    <a:latin typeface="Helvetica" pitchFamily="34" charset="0"/>
                  </a:rPr>
                  <a:t>head</a:t>
                </a:r>
              </a:p>
            </p:txBody>
          </p:sp>
          <p:sp>
            <p:nvSpPr>
              <p:cNvPr id="5166" name="Line 33"/>
              <p:cNvSpPr>
                <a:spLocks noChangeShapeType="1"/>
              </p:cNvSpPr>
              <p:nvPr/>
            </p:nvSpPr>
            <p:spPr bwMode="auto">
              <a:xfrm>
                <a:off x="1200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7" name="Line 34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43" name="Text Box 35"/>
            <p:cNvSpPr txBox="1">
              <a:spLocks noChangeArrowheads="1"/>
            </p:cNvSpPr>
            <p:nvPr/>
          </p:nvSpPr>
          <p:spPr bwMode="auto">
            <a:xfrm>
              <a:off x="1488" y="2812"/>
              <a:ext cx="5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current</a:t>
              </a:r>
            </a:p>
          </p:txBody>
        </p:sp>
        <p:sp>
          <p:nvSpPr>
            <p:cNvPr id="5144" name="Text Box 36"/>
            <p:cNvSpPr txBox="1">
              <a:spLocks noChangeArrowheads="1"/>
            </p:cNvSpPr>
            <p:nvPr/>
          </p:nvSpPr>
          <p:spPr bwMode="auto">
            <a:xfrm>
              <a:off x="3862" y="2544"/>
              <a:ext cx="59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size=5 6</a:t>
              </a:r>
            </a:p>
          </p:txBody>
        </p:sp>
        <p:sp>
          <p:nvSpPr>
            <p:cNvPr id="5145" name="Rectangle 37"/>
            <p:cNvSpPr>
              <a:spLocks noChangeArrowheads="1"/>
            </p:cNvSpPr>
            <p:nvPr/>
          </p:nvSpPr>
          <p:spPr bwMode="auto">
            <a:xfrm>
              <a:off x="2592" y="3216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Line 38"/>
            <p:cNvSpPr>
              <a:spLocks noChangeShapeType="1"/>
            </p:cNvSpPr>
            <p:nvPr/>
          </p:nvSpPr>
          <p:spPr bwMode="auto">
            <a:xfrm>
              <a:off x="278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7" name="Text Box 39"/>
            <p:cNvSpPr txBox="1">
              <a:spLocks noChangeArrowheads="1"/>
            </p:cNvSpPr>
            <p:nvPr/>
          </p:nvSpPr>
          <p:spPr bwMode="auto">
            <a:xfrm>
              <a:off x="2592" y="3196"/>
              <a:ext cx="20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9</a:t>
              </a:r>
            </a:p>
          </p:txBody>
        </p:sp>
        <p:sp>
          <p:nvSpPr>
            <p:cNvPr id="5148" name="Text Box 40"/>
            <p:cNvSpPr txBox="1">
              <a:spLocks noChangeArrowheads="1"/>
            </p:cNvSpPr>
            <p:nvPr/>
          </p:nvSpPr>
          <p:spPr bwMode="auto">
            <a:xfrm>
              <a:off x="1536" y="3484"/>
              <a:ext cx="65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newNode</a:t>
              </a:r>
            </a:p>
          </p:txBody>
        </p:sp>
        <p:sp>
          <p:nvSpPr>
            <p:cNvPr id="5149" name="Line 41"/>
            <p:cNvSpPr>
              <a:spLocks noChangeShapeType="1"/>
            </p:cNvSpPr>
            <p:nvPr/>
          </p:nvSpPr>
          <p:spPr bwMode="auto">
            <a:xfrm flipV="1">
              <a:off x="2208" y="340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Line 42"/>
            <p:cNvSpPr>
              <a:spLocks noChangeShapeType="1"/>
            </p:cNvSpPr>
            <p:nvPr/>
          </p:nvSpPr>
          <p:spPr bwMode="auto">
            <a:xfrm flipV="1">
              <a:off x="2832" y="2736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Line 43"/>
            <p:cNvSpPr>
              <a:spLocks noChangeShapeType="1"/>
            </p:cNvSpPr>
            <p:nvPr/>
          </p:nvSpPr>
          <p:spPr bwMode="auto">
            <a:xfrm>
              <a:off x="2496" y="2688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Line 44"/>
            <p:cNvSpPr>
              <a:spLocks noChangeShapeType="1"/>
            </p:cNvSpPr>
            <p:nvPr/>
          </p:nvSpPr>
          <p:spPr bwMode="auto">
            <a:xfrm>
              <a:off x="1968" y="2976"/>
              <a:ext cx="6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3" name="Line 45"/>
            <p:cNvSpPr>
              <a:spLocks noChangeShapeType="1"/>
            </p:cNvSpPr>
            <p:nvPr/>
          </p:nvSpPr>
          <p:spPr bwMode="auto">
            <a:xfrm flipH="1">
              <a:off x="4224" y="2544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3072" y="2880"/>
              <a:ext cx="192" cy="192"/>
              <a:chOff x="528" y="3552"/>
              <a:chExt cx="192" cy="192"/>
            </a:xfrm>
          </p:grpSpPr>
          <p:sp>
            <p:nvSpPr>
              <p:cNvPr id="5163" name="Oval 47"/>
              <p:cNvSpPr>
                <a:spLocks noChangeArrowheads="1"/>
              </p:cNvSpPr>
              <p:nvPr/>
            </p:nvSpPr>
            <p:spPr bwMode="auto">
              <a:xfrm>
                <a:off x="528" y="3552"/>
                <a:ext cx="192" cy="14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64" name="Text Box 48"/>
              <p:cNvSpPr txBox="1">
                <a:spLocks noChangeArrowheads="1"/>
              </p:cNvSpPr>
              <p:nvPr/>
            </p:nvSpPr>
            <p:spPr bwMode="auto">
              <a:xfrm>
                <a:off x="528" y="3552"/>
                <a:ext cx="178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400" b="0" i="1">
                    <a:solidFill>
                      <a:srgbClr val="800000"/>
                    </a:solidFill>
                    <a:latin typeface="Helvetica" pitchFamily="34" charset="0"/>
                  </a:rPr>
                  <a:t>1</a:t>
                </a:r>
              </a:p>
            </p:txBody>
          </p:sp>
        </p:grpSp>
        <p:grpSp>
          <p:nvGrpSpPr>
            <p:cNvPr id="7" name="Group 49"/>
            <p:cNvGrpSpPr>
              <a:grpSpLocks/>
            </p:cNvGrpSpPr>
            <p:nvPr/>
          </p:nvGrpSpPr>
          <p:grpSpPr bwMode="auto">
            <a:xfrm>
              <a:off x="1920" y="3072"/>
              <a:ext cx="259" cy="192"/>
              <a:chOff x="1776" y="3792"/>
              <a:chExt cx="259" cy="192"/>
            </a:xfrm>
          </p:grpSpPr>
          <p:sp>
            <p:nvSpPr>
              <p:cNvPr id="5161" name="Oval 50"/>
              <p:cNvSpPr>
                <a:spLocks noChangeArrowheads="1"/>
              </p:cNvSpPr>
              <p:nvPr/>
            </p:nvSpPr>
            <p:spPr bwMode="auto">
              <a:xfrm>
                <a:off x="1776" y="3792"/>
                <a:ext cx="259" cy="14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62" name="Text Box 51"/>
              <p:cNvSpPr txBox="1">
                <a:spLocks noChangeArrowheads="1"/>
              </p:cNvSpPr>
              <p:nvPr/>
            </p:nvSpPr>
            <p:spPr bwMode="auto">
              <a:xfrm>
                <a:off x="1807" y="3792"/>
                <a:ext cx="178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400" b="0" i="1">
                    <a:solidFill>
                      <a:srgbClr val="800000"/>
                    </a:solidFill>
                    <a:latin typeface="Helvetica" pitchFamily="34" charset="0"/>
                  </a:rPr>
                  <a:t>3</a:t>
                </a:r>
              </a:p>
            </p:txBody>
          </p: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2592" y="2832"/>
              <a:ext cx="192" cy="192"/>
              <a:chOff x="528" y="3552"/>
              <a:chExt cx="192" cy="192"/>
            </a:xfrm>
          </p:grpSpPr>
          <p:sp>
            <p:nvSpPr>
              <p:cNvPr id="5159" name="Oval 53"/>
              <p:cNvSpPr>
                <a:spLocks noChangeArrowheads="1"/>
              </p:cNvSpPr>
              <p:nvPr/>
            </p:nvSpPr>
            <p:spPr bwMode="auto">
              <a:xfrm>
                <a:off x="528" y="3552"/>
                <a:ext cx="192" cy="14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60" name="Text Box 54"/>
              <p:cNvSpPr txBox="1">
                <a:spLocks noChangeArrowheads="1"/>
              </p:cNvSpPr>
              <p:nvPr/>
            </p:nvSpPr>
            <p:spPr bwMode="auto">
              <a:xfrm>
                <a:off x="528" y="3552"/>
                <a:ext cx="178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400" b="0" i="1">
                    <a:solidFill>
                      <a:srgbClr val="800000"/>
                    </a:solidFill>
                    <a:latin typeface="Helvetica" pitchFamily="34" charset="0"/>
                  </a:rPr>
                  <a:t>2</a:t>
                </a:r>
              </a:p>
            </p:txBody>
          </p:sp>
        </p:grpSp>
        <p:sp>
          <p:nvSpPr>
            <p:cNvPr id="5157" name="Line 55"/>
            <p:cNvSpPr>
              <a:spLocks noChangeShapeType="1"/>
            </p:cNvSpPr>
            <p:nvPr/>
          </p:nvSpPr>
          <p:spPr bwMode="auto">
            <a:xfrm>
              <a:off x="2496" y="264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8" name="Line 56"/>
            <p:cNvSpPr>
              <a:spLocks noChangeShapeType="1"/>
            </p:cNvSpPr>
            <p:nvPr/>
          </p:nvSpPr>
          <p:spPr bwMode="auto">
            <a:xfrm flipV="1">
              <a:off x="1968" y="273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Slide Number Placeholder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371600"/>
            <a:ext cx="8226425" cy="4570413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>
                <a:latin typeface="Helvetica" pitchFamily="34" charset="0"/>
              </a:rPr>
              <a:t>The Node class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i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class Node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public: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int get() { return object; 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void set(int object) { this-&gt;object = object; 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Node *getNext() { return nextNode; 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void setNext(Node *nextNode)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        { this-&gt;nextNode = nextNode; 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private: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int object;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Node *nextNode;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};	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0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40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905000"/>
            <a:ext cx="8226425" cy="4570413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#include &lt;stdlib.h&gt;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#include "Node.cpp"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class List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public: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// Constructor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List()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	headNode = new Node();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	headNode-&gt;setNext(NULL);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	currentNode = NULL;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	size = 0;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400">
              <a:latin typeface="Helvetica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295400"/>
            <a:ext cx="8226425" cy="525780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>
                <a:latin typeface="Courier New" pitchFamily="49" charset="0"/>
              </a:rPr>
              <a:t>  </a:t>
            </a:r>
            <a:r>
              <a:rPr lang="en-US" sz="2000" b="1">
                <a:latin typeface="Courier New" pitchFamily="49" charset="0"/>
              </a:rPr>
              <a:t>void add(int addObject)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Node* newNode = new Node();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newNode-&gt;set(addObject);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if( currentNode != NULL ){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   	    newNode-&gt;setNext(currentNode-&gt;getNext());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    currentNode-&gt;setNext( newNode 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    lastCurrentNode = currentNode;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    currentNode = newNode;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     }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     else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    newNode-&gt;setNext(NULL);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    headNode-&gt;setNext(newNode);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    lastCurrentNode = headNode;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         currentNode =  newNode;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     }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     size++;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  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000" b="1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Building a Linked List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953000" y="1676400"/>
            <a:ext cx="457200" cy="304800"/>
            <a:chOff x="4519" y="1940"/>
            <a:chExt cx="288" cy="192"/>
          </a:xfrm>
        </p:grpSpPr>
        <p:sp>
          <p:nvSpPr>
            <p:cNvPr id="43017" name="Rectangle 6"/>
            <p:cNvSpPr>
              <a:spLocks noChangeArrowheads="1"/>
            </p:cNvSpPr>
            <p:nvPr/>
          </p:nvSpPr>
          <p:spPr bwMode="auto">
            <a:xfrm>
              <a:off x="4519" y="1940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8" name="Line 7"/>
            <p:cNvSpPr>
              <a:spLocks noChangeShapeType="1"/>
            </p:cNvSpPr>
            <p:nvPr/>
          </p:nvSpPr>
          <p:spPr bwMode="auto">
            <a:xfrm>
              <a:off x="4711" y="19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9" name="Line 8"/>
            <p:cNvSpPr>
              <a:spLocks noChangeShapeType="1"/>
            </p:cNvSpPr>
            <p:nvPr/>
          </p:nvSpPr>
          <p:spPr bwMode="auto">
            <a:xfrm flipH="1">
              <a:off x="4711" y="196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012" name="Text Box 9"/>
          <p:cNvSpPr txBox="1">
            <a:spLocks noChangeArrowheads="1"/>
          </p:cNvSpPr>
          <p:nvPr/>
        </p:nvSpPr>
        <p:spPr bwMode="auto">
          <a:xfrm>
            <a:off x="3276600" y="164465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headNode</a:t>
            </a:r>
          </a:p>
        </p:txBody>
      </p:sp>
      <p:sp>
        <p:nvSpPr>
          <p:cNvPr id="43013" name="Line 10"/>
          <p:cNvSpPr>
            <a:spLocks noChangeShapeType="1"/>
          </p:cNvSpPr>
          <p:nvPr/>
        </p:nvSpPr>
        <p:spPr bwMode="auto">
          <a:xfrm>
            <a:off x="4343400" y="1828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4" name="Text Box 102"/>
          <p:cNvSpPr txBox="1">
            <a:spLocks noChangeArrowheads="1"/>
          </p:cNvSpPr>
          <p:nvPr/>
        </p:nvSpPr>
        <p:spPr bwMode="auto">
          <a:xfrm>
            <a:off x="6767513" y="164465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size=0</a:t>
            </a:r>
          </a:p>
        </p:txBody>
      </p:sp>
      <p:sp>
        <p:nvSpPr>
          <p:cNvPr id="43015" name="Rectangle 104"/>
          <p:cNvSpPr>
            <a:spLocks noChangeArrowheads="1"/>
          </p:cNvSpPr>
          <p:nvPr/>
        </p:nvSpPr>
        <p:spPr bwMode="auto">
          <a:xfrm>
            <a:off x="609600" y="5562600"/>
            <a:ext cx="1828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Text Box 105"/>
          <p:cNvSpPr txBox="1">
            <a:spLocks noChangeArrowheads="1"/>
          </p:cNvSpPr>
          <p:nvPr/>
        </p:nvSpPr>
        <p:spPr bwMode="auto">
          <a:xfrm>
            <a:off x="609600" y="1644650"/>
            <a:ext cx="2057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List list;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Building a Linked List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953000" y="1676400"/>
            <a:ext cx="457200" cy="304800"/>
            <a:chOff x="4519" y="1940"/>
            <a:chExt cx="288" cy="192"/>
          </a:xfrm>
        </p:grpSpPr>
        <p:sp>
          <p:nvSpPr>
            <p:cNvPr id="44056" name="Rectangle 5"/>
            <p:cNvSpPr>
              <a:spLocks noChangeArrowheads="1"/>
            </p:cNvSpPr>
            <p:nvPr/>
          </p:nvSpPr>
          <p:spPr bwMode="auto">
            <a:xfrm>
              <a:off x="4519" y="1940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7" name="Line 6"/>
            <p:cNvSpPr>
              <a:spLocks noChangeShapeType="1"/>
            </p:cNvSpPr>
            <p:nvPr/>
          </p:nvSpPr>
          <p:spPr bwMode="auto">
            <a:xfrm>
              <a:off x="4711" y="19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8" name="Line 7"/>
            <p:cNvSpPr>
              <a:spLocks noChangeShapeType="1"/>
            </p:cNvSpPr>
            <p:nvPr/>
          </p:nvSpPr>
          <p:spPr bwMode="auto">
            <a:xfrm flipH="1">
              <a:off x="4711" y="196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36" name="Text Box 8"/>
          <p:cNvSpPr txBox="1">
            <a:spLocks noChangeArrowheads="1"/>
          </p:cNvSpPr>
          <p:nvPr/>
        </p:nvSpPr>
        <p:spPr bwMode="auto">
          <a:xfrm>
            <a:off x="3276600" y="164465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headNode</a:t>
            </a:r>
          </a:p>
        </p:txBody>
      </p:sp>
      <p:sp>
        <p:nvSpPr>
          <p:cNvPr id="44037" name="Line 9"/>
          <p:cNvSpPr>
            <a:spLocks noChangeShapeType="1"/>
          </p:cNvSpPr>
          <p:nvPr/>
        </p:nvSpPr>
        <p:spPr bwMode="auto">
          <a:xfrm>
            <a:off x="4343400" y="1828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38" name="Rectangle 10"/>
          <p:cNvSpPr>
            <a:spLocks noChangeArrowheads="1"/>
          </p:cNvSpPr>
          <p:nvPr/>
        </p:nvSpPr>
        <p:spPr bwMode="auto">
          <a:xfrm>
            <a:off x="4667250" y="28511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9" name="Line 11"/>
          <p:cNvSpPr>
            <a:spLocks noChangeShapeType="1"/>
          </p:cNvSpPr>
          <p:nvPr/>
        </p:nvSpPr>
        <p:spPr bwMode="auto">
          <a:xfrm>
            <a:off x="4972050" y="28511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Line 12"/>
          <p:cNvSpPr>
            <a:spLocks noChangeShapeType="1"/>
          </p:cNvSpPr>
          <p:nvPr/>
        </p:nvSpPr>
        <p:spPr bwMode="auto">
          <a:xfrm>
            <a:off x="5048250" y="30035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041" name="Rectangle 13"/>
          <p:cNvSpPr>
            <a:spLocks noChangeArrowheads="1"/>
          </p:cNvSpPr>
          <p:nvPr/>
        </p:nvSpPr>
        <p:spPr bwMode="auto">
          <a:xfrm>
            <a:off x="5353050" y="28511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2" name="Line 14"/>
          <p:cNvSpPr>
            <a:spLocks noChangeShapeType="1"/>
          </p:cNvSpPr>
          <p:nvPr/>
        </p:nvSpPr>
        <p:spPr bwMode="auto">
          <a:xfrm>
            <a:off x="5657850" y="28511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3" name="Text Box 15"/>
          <p:cNvSpPr txBox="1">
            <a:spLocks noChangeArrowheads="1"/>
          </p:cNvSpPr>
          <p:nvPr/>
        </p:nvSpPr>
        <p:spPr bwMode="auto">
          <a:xfrm>
            <a:off x="5353050" y="2819400"/>
            <a:ext cx="369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2</a:t>
            </a:r>
          </a:p>
        </p:txBody>
      </p:sp>
      <p:sp>
        <p:nvSpPr>
          <p:cNvPr id="44044" name="Line 16"/>
          <p:cNvSpPr>
            <a:spLocks noChangeShapeType="1"/>
          </p:cNvSpPr>
          <p:nvPr/>
        </p:nvSpPr>
        <p:spPr bwMode="auto">
          <a:xfrm flipH="1">
            <a:off x="56388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5" name="Text Box 17"/>
          <p:cNvSpPr txBox="1">
            <a:spLocks noChangeArrowheads="1"/>
          </p:cNvSpPr>
          <p:nvPr/>
        </p:nvSpPr>
        <p:spPr bwMode="auto">
          <a:xfrm>
            <a:off x="3276600" y="278765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headNode</a:t>
            </a:r>
          </a:p>
        </p:txBody>
      </p:sp>
      <p:sp>
        <p:nvSpPr>
          <p:cNvPr id="44046" name="Line 18"/>
          <p:cNvSpPr>
            <a:spLocks noChangeShapeType="1"/>
          </p:cNvSpPr>
          <p:nvPr/>
        </p:nvSpPr>
        <p:spPr bwMode="auto">
          <a:xfrm>
            <a:off x="4419600" y="2971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47" name="Text Box 19"/>
          <p:cNvSpPr txBox="1">
            <a:spLocks noChangeArrowheads="1"/>
          </p:cNvSpPr>
          <p:nvPr/>
        </p:nvSpPr>
        <p:spPr bwMode="auto">
          <a:xfrm>
            <a:off x="4954588" y="22860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currentNode</a:t>
            </a:r>
          </a:p>
        </p:txBody>
      </p:sp>
      <p:sp>
        <p:nvSpPr>
          <p:cNvPr id="44048" name="Text Box 20"/>
          <p:cNvSpPr txBox="1">
            <a:spLocks noChangeArrowheads="1"/>
          </p:cNvSpPr>
          <p:nvPr/>
        </p:nvSpPr>
        <p:spPr bwMode="auto">
          <a:xfrm>
            <a:off x="6767513" y="286385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size=1</a:t>
            </a:r>
          </a:p>
        </p:txBody>
      </p:sp>
      <p:sp>
        <p:nvSpPr>
          <p:cNvPr id="44049" name="Text Box 21"/>
          <p:cNvSpPr txBox="1">
            <a:spLocks noChangeArrowheads="1"/>
          </p:cNvSpPr>
          <p:nvPr/>
        </p:nvSpPr>
        <p:spPr bwMode="auto">
          <a:xfrm>
            <a:off x="3889375" y="3321050"/>
            <a:ext cx="1617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lastcurrentNode</a:t>
            </a:r>
          </a:p>
        </p:txBody>
      </p:sp>
      <p:sp>
        <p:nvSpPr>
          <p:cNvPr id="44050" name="Line 22"/>
          <p:cNvSpPr>
            <a:spLocks noChangeShapeType="1"/>
          </p:cNvSpPr>
          <p:nvPr/>
        </p:nvSpPr>
        <p:spPr bwMode="auto">
          <a:xfrm>
            <a:off x="5494338" y="259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51" name="Line 23"/>
          <p:cNvSpPr>
            <a:spLocks noChangeShapeType="1"/>
          </p:cNvSpPr>
          <p:nvPr/>
        </p:nvSpPr>
        <p:spPr bwMode="auto">
          <a:xfrm flipV="1">
            <a:off x="4808538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052" name="Text Box 41"/>
          <p:cNvSpPr txBox="1">
            <a:spLocks noChangeArrowheads="1"/>
          </p:cNvSpPr>
          <p:nvPr/>
        </p:nvSpPr>
        <p:spPr bwMode="auto">
          <a:xfrm>
            <a:off x="6767513" y="164465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size=0</a:t>
            </a:r>
          </a:p>
        </p:txBody>
      </p:sp>
      <p:sp>
        <p:nvSpPr>
          <p:cNvPr id="44053" name="Rectangle 43"/>
          <p:cNvSpPr>
            <a:spLocks noChangeArrowheads="1"/>
          </p:cNvSpPr>
          <p:nvPr/>
        </p:nvSpPr>
        <p:spPr bwMode="auto">
          <a:xfrm>
            <a:off x="609600" y="5562600"/>
            <a:ext cx="1828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4" name="Text Box 44"/>
          <p:cNvSpPr txBox="1">
            <a:spLocks noChangeArrowheads="1"/>
          </p:cNvSpPr>
          <p:nvPr/>
        </p:nvSpPr>
        <p:spPr bwMode="auto">
          <a:xfrm>
            <a:off x="609600" y="1644650"/>
            <a:ext cx="2057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List list;</a:t>
            </a:r>
          </a:p>
        </p:txBody>
      </p:sp>
      <p:sp>
        <p:nvSpPr>
          <p:cNvPr id="44055" name="Text Box 45"/>
          <p:cNvSpPr txBox="1">
            <a:spLocks noChangeArrowheads="1"/>
          </p:cNvSpPr>
          <p:nvPr/>
        </p:nvSpPr>
        <p:spPr bwMode="auto">
          <a:xfrm>
            <a:off x="609600" y="2895600"/>
            <a:ext cx="2133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list.add(2);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Building a Linked List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953000" y="1676400"/>
            <a:ext cx="457200" cy="304800"/>
            <a:chOff x="4519" y="1940"/>
            <a:chExt cx="288" cy="192"/>
          </a:xfrm>
        </p:grpSpPr>
        <p:sp>
          <p:nvSpPr>
            <p:cNvPr id="45099" name="Rectangle 5"/>
            <p:cNvSpPr>
              <a:spLocks noChangeArrowheads="1"/>
            </p:cNvSpPr>
            <p:nvPr/>
          </p:nvSpPr>
          <p:spPr bwMode="auto">
            <a:xfrm>
              <a:off x="4519" y="1940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100" name="Line 6"/>
            <p:cNvSpPr>
              <a:spLocks noChangeShapeType="1"/>
            </p:cNvSpPr>
            <p:nvPr/>
          </p:nvSpPr>
          <p:spPr bwMode="auto">
            <a:xfrm>
              <a:off x="4711" y="19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101" name="Line 7"/>
            <p:cNvSpPr>
              <a:spLocks noChangeShapeType="1"/>
            </p:cNvSpPr>
            <p:nvPr/>
          </p:nvSpPr>
          <p:spPr bwMode="auto">
            <a:xfrm flipH="1">
              <a:off x="4711" y="196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60" name="Text Box 8"/>
          <p:cNvSpPr txBox="1">
            <a:spLocks noChangeArrowheads="1"/>
          </p:cNvSpPr>
          <p:nvPr/>
        </p:nvSpPr>
        <p:spPr bwMode="auto">
          <a:xfrm>
            <a:off x="3276600" y="164465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headNode</a:t>
            </a:r>
          </a:p>
        </p:txBody>
      </p:sp>
      <p:sp>
        <p:nvSpPr>
          <p:cNvPr id="45061" name="Line 9"/>
          <p:cNvSpPr>
            <a:spLocks noChangeShapeType="1"/>
          </p:cNvSpPr>
          <p:nvPr/>
        </p:nvSpPr>
        <p:spPr bwMode="auto">
          <a:xfrm>
            <a:off x="4343400" y="1828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62" name="Rectangle 10"/>
          <p:cNvSpPr>
            <a:spLocks noChangeArrowheads="1"/>
          </p:cNvSpPr>
          <p:nvPr/>
        </p:nvSpPr>
        <p:spPr bwMode="auto">
          <a:xfrm>
            <a:off x="4667250" y="28511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Line 11"/>
          <p:cNvSpPr>
            <a:spLocks noChangeShapeType="1"/>
          </p:cNvSpPr>
          <p:nvPr/>
        </p:nvSpPr>
        <p:spPr bwMode="auto">
          <a:xfrm>
            <a:off x="4972050" y="28511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64" name="Line 12"/>
          <p:cNvSpPr>
            <a:spLocks noChangeShapeType="1"/>
          </p:cNvSpPr>
          <p:nvPr/>
        </p:nvSpPr>
        <p:spPr bwMode="auto">
          <a:xfrm>
            <a:off x="5048250" y="30035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065" name="Rectangle 13"/>
          <p:cNvSpPr>
            <a:spLocks noChangeArrowheads="1"/>
          </p:cNvSpPr>
          <p:nvPr/>
        </p:nvSpPr>
        <p:spPr bwMode="auto">
          <a:xfrm>
            <a:off x="5353050" y="28511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6" name="Line 14"/>
          <p:cNvSpPr>
            <a:spLocks noChangeShapeType="1"/>
          </p:cNvSpPr>
          <p:nvPr/>
        </p:nvSpPr>
        <p:spPr bwMode="auto">
          <a:xfrm>
            <a:off x="5657850" y="28511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67" name="Text Box 15"/>
          <p:cNvSpPr txBox="1">
            <a:spLocks noChangeArrowheads="1"/>
          </p:cNvSpPr>
          <p:nvPr/>
        </p:nvSpPr>
        <p:spPr bwMode="auto">
          <a:xfrm>
            <a:off x="5353050" y="2819400"/>
            <a:ext cx="369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2</a:t>
            </a:r>
          </a:p>
        </p:txBody>
      </p:sp>
      <p:sp>
        <p:nvSpPr>
          <p:cNvPr id="45068" name="Line 16"/>
          <p:cNvSpPr>
            <a:spLocks noChangeShapeType="1"/>
          </p:cNvSpPr>
          <p:nvPr/>
        </p:nvSpPr>
        <p:spPr bwMode="auto">
          <a:xfrm flipH="1">
            <a:off x="56388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69" name="Text Box 17"/>
          <p:cNvSpPr txBox="1">
            <a:spLocks noChangeArrowheads="1"/>
          </p:cNvSpPr>
          <p:nvPr/>
        </p:nvSpPr>
        <p:spPr bwMode="auto">
          <a:xfrm>
            <a:off x="3276600" y="278765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headNode</a:t>
            </a:r>
          </a:p>
        </p:txBody>
      </p:sp>
      <p:sp>
        <p:nvSpPr>
          <p:cNvPr id="45070" name="Line 18"/>
          <p:cNvSpPr>
            <a:spLocks noChangeShapeType="1"/>
          </p:cNvSpPr>
          <p:nvPr/>
        </p:nvSpPr>
        <p:spPr bwMode="auto">
          <a:xfrm>
            <a:off x="4419600" y="2971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71" name="Text Box 19"/>
          <p:cNvSpPr txBox="1">
            <a:spLocks noChangeArrowheads="1"/>
          </p:cNvSpPr>
          <p:nvPr/>
        </p:nvSpPr>
        <p:spPr bwMode="auto">
          <a:xfrm>
            <a:off x="4954588" y="22860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currentNode</a:t>
            </a:r>
          </a:p>
        </p:txBody>
      </p:sp>
      <p:sp>
        <p:nvSpPr>
          <p:cNvPr id="45072" name="Text Box 20"/>
          <p:cNvSpPr txBox="1">
            <a:spLocks noChangeArrowheads="1"/>
          </p:cNvSpPr>
          <p:nvPr/>
        </p:nvSpPr>
        <p:spPr bwMode="auto">
          <a:xfrm>
            <a:off x="6767513" y="286385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size=1</a:t>
            </a:r>
          </a:p>
        </p:txBody>
      </p:sp>
      <p:sp>
        <p:nvSpPr>
          <p:cNvPr id="45073" name="Text Box 21"/>
          <p:cNvSpPr txBox="1">
            <a:spLocks noChangeArrowheads="1"/>
          </p:cNvSpPr>
          <p:nvPr/>
        </p:nvSpPr>
        <p:spPr bwMode="auto">
          <a:xfrm>
            <a:off x="3889375" y="3321050"/>
            <a:ext cx="1617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lastcurrentNode</a:t>
            </a:r>
          </a:p>
        </p:txBody>
      </p:sp>
      <p:sp>
        <p:nvSpPr>
          <p:cNvPr id="45074" name="Line 22"/>
          <p:cNvSpPr>
            <a:spLocks noChangeShapeType="1"/>
          </p:cNvSpPr>
          <p:nvPr/>
        </p:nvSpPr>
        <p:spPr bwMode="auto">
          <a:xfrm>
            <a:off x="5494338" y="259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75" name="Line 23"/>
          <p:cNvSpPr>
            <a:spLocks noChangeShapeType="1"/>
          </p:cNvSpPr>
          <p:nvPr/>
        </p:nvSpPr>
        <p:spPr bwMode="auto">
          <a:xfrm flipV="1">
            <a:off x="4808538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76" name="Rectangle 24"/>
          <p:cNvSpPr>
            <a:spLocks noChangeArrowheads="1"/>
          </p:cNvSpPr>
          <p:nvPr/>
        </p:nvSpPr>
        <p:spPr bwMode="auto">
          <a:xfrm>
            <a:off x="4591050" y="47561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7" name="Line 25"/>
          <p:cNvSpPr>
            <a:spLocks noChangeShapeType="1"/>
          </p:cNvSpPr>
          <p:nvPr/>
        </p:nvSpPr>
        <p:spPr bwMode="auto">
          <a:xfrm>
            <a:off x="4895850" y="47561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8" name="Line 26"/>
          <p:cNvSpPr>
            <a:spLocks noChangeShapeType="1"/>
          </p:cNvSpPr>
          <p:nvPr/>
        </p:nvSpPr>
        <p:spPr bwMode="auto">
          <a:xfrm>
            <a:off x="4972050" y="49085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079" name="Rectangle 27"/>
          <p:cNvSpPr>
            <a:spLocks noChangeArrowheads="1"/>
          </p:cNvSpPr>
          <p:nvPr/>
        </p:nvSpPr>
        <p:spPr bwMode="auto">
          <a:xfrm>
            <a:off x="5276850" y="47561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80" name="Line 28"/>
          <p:cNvSpPr>
            <a:spLocks noChangeShapeType="1"/>
          </p:cNvSpPr>
          <p:nvPr/>
        </p:nvSpPr>
        <p:spPr bwMode="auto">
          <a:xfrm>
            <a:off x="5581650" y="47561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81" name="Text Box 29"/>
          <p:cNvSpPr txBox="1">
            <a:spLocks noChangeArrowheads="1"/>
          </p:cNvSpPr>
          <p:nvPr/>
        </p:nvSpPr>
        <p:spPr bwMode="auto">
          <a:xfrm>
            <a:off x="5276850" y="4724400"/>
            <a:ext cx="369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2</a:t>
            </a:r>
          </a:p>
        </p:txBody>
      </p:sp>
      <p:sp>
        <p:nvSpPr>
          <p:cNvPr id="45082" name="Line 30"/>
          <p:cNvSpPr>
            <a:spLocks noChangeShapeType="1"/>
          </p:cNvSpPr>
          <p:nvPr/>
        </p:nvSpPr>
        <p:spPr bwMode="auto">
          <a:xfrm>
            <a:off x="5657850" y="49085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083" name="Rectangle 31"/>
          <p:cNvSpPr>
            <a:spLocks noChangeArrowheads="1"/>
          </p:cNvSpPr>
          <p:nvPr/>
        </p:nvSpPr>
        <p:spPr bwMode="auto">
          <a:xfrm>
            <a:off x="5962650" y="47561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84" name="Line 32"/>
          <p:cNvSpPr>
            <a:spLocks noChangeShapeType="1"/>
          </p:cNvSpPr>
          <p:nvPr/>
        </p:nvSpPr>
        <p:spPr bwMode="auto">
          <a:xfrm>
            <a:off x="6267450" y="47561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85" name="Text Box 33"/>
          <p:cNvSpPr txBox="1">
            <a:spLocks noChangeArrowheads="1"/>
          </p:cNvSpPr>
          <p:nvPr/>
        </p:nvSpPr>
        <p:spPr bwMode="auto">
          <a:xfrm>
            <a:off x="5962650" y="47244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6</a:t>
            </a:r>
          </a:p>
        </p:txBody>
      </p:sp>
      <p:sp>
        <p:nvSpPr>
          <p:cNvPr id="45086" name="Line 34"/>
          <p:cNvSpPr>
            <a:spLocks noChangeShapeType="1"/>
          </p:cNvSpPr>
          <p:nvPr/>
        </p:nvSpPr>
        <p:spPr bwMode="auto">
          <a:xfrm flipH="1">
            <a:off x="6248400" y="4800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87" name="Text Box 35"/>
          <p:cNvSpPr txBox="1">
            <a:spLocks noChangeArrowheads="1"/>
          </p:cNvSpPr>
          <p:nvPr/>
        </p:nvSpPr>
        <p:spPr bwMode="auto">
          <a:xfrm>
            <a:off x="3276600" y="472440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headNode</a:t>
            </a:r>
          </a:p>
        </p:txBody>
      </p:sp>
      <p:sp>
        <p:nvSpPr>
          <p:cNvPr id="45088" name="Text Box 36"/>
          <p:cNvSpPr txBox="1">
            <a:spLocks noChangeArrowheads="1"/>
          </p:cNvSpPr>
          <p:nvPr/>
        </p:nvSpPr>
        <p:spPr bwMode="auto">
          <a:xfrm>
            <a:off x="5480050" y="41148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currentNode</a:t>
            </a:r>
          </a:p>
        </p:txBody>
      </p:sp>
      <p:sp>
        <p:nvSpPr>
          <p:cNvPr id="45089" name="Text Box 37"/>
          <p:cNvSpPr txBox="1">
            <a:spLocks noChangeArrowheads="1"/>
          </p:cNvSpPr>
          <p:nvPr/>
        </p:nvSpPr>
        <p:spPr bwMode="auto">
          <a:xfrm>
            <a:off x="6767513" y="47244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size=2</a:t>
            </a:r>
          </a:p>
        </p:txBody>
      </p:sp>
      <p:sp>
        <p:nvSpPr>
          <p:cNvPr id="45090" name="Text Box 38"/>
          <p:cNvSpPr txBox="1">
            <a:spLocks noChangeArrowheads="1"/>
          </p:cNvSpPr>
          <p:nvPr/>
        </p:nvSpPr>
        <p:spPr bwMode="auto">
          <a:xfrm>
            <a:off x="4706938" y="5226050"/>
            <a:ext cx="16176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lastcurrentNode</a:t>
            </a:r>
          </a:p>
        </p:txBody>
      </p:sp>
      <p:sp>
        <p:nvSpPr>
          <p:cNvPr id="45091" name="Line 39"/>
          <p:cNvSpPr>
            <a:spLocks noChangeShapeType="1"/>
          </p:cNvSpPr>
          <p:nvPr/>
        </p:nvSpPr>
        <p:spPr bwMode="auto">
          <a:xfrm>
            <a:off x="6096000" y="4495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92" name="Line 40"/>
          <p:cNvSpPr>
            <a:spLocks noChangeShapeType="1"/>
          </p:cNvSpPr>
          <p:nvPr/>
        </p:nvSpPr>
        <p:spPr bwMode="auto">
          <a:xfrm flipV="1">
            <a:off x="54102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93" name="Text Box 41"/>
          <p:cNvSpPr txBox="1">
            <a:spLocks noChangeArrowheads="1"/>
          </p:cNvSpPr>
          <p:nvPr/>
        </p:nvSpPr>
        <p:spPr bwMode="auto">
          <a:xfrm>
            <a:off x="6767513" y="164465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size=0</a:t>
            </a:r>
          </a:p>
        </p:txBody>
      </p:sp>
      <p:sp>
        <p:nvSpPr>
          <p:cNvPr id="45094" name="Line 42"/>
          <p:cNvSpPr>
            <a:spLocks noChangeShapeType="1"/>
          </p:cNvSpPr>
          <p:nvPr/>
        </p:nvSpPr>
        <p:spPr bwMode="auto">
          <a:xfrm>
            <a:off x="4343400" y="49085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95" name="Rectangle 43"/>
          <p:cNvSpPr>
            <a:spLocks noChangeArrowheads="1"/>
          </p:cNvSpPr>
          <p:nvPr/>
        </p:nvSpPr>
        <p:spPr bwMode="auto">
          <a:xfrm>
            <a:off x="609600" y="5562600"/>
            <a:ext cx="1828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96" name="Text Box 44"/>
          <p:cNvSpPr txBox="1">
            <a:spLocks noChangeArrowheads="1"/>
          </p:cNvSpPr>
          <p:nvPr/>
        </p:nvSpPr>
        <p:spPr bwMode="auto">
          <a:xfrm>
            <a:off x="609600" y="1644650"/>
            <a:ext cx="2057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List list;</a:t>
            </a:r>
          </a:p>
        </p:txBody>
      </p:sp>
      <p:sp>
        <p:nvSpPr>
          <p:cNvPr id="45097" name="Text Box 45"/>
          <p:cNvSpPr txBox="1">
            <a:spLocks noChangeArrowheads="1"/>
          </p:cNvSpPr>
          <p:nvPr/>
        </p:nvSpPr>
        <p:spPr bwMode="auto">
          <a:xfrm>
            <a:off x="609600" y="2895600"/>
            <a:ext cx="2133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list.add(2);</a:t>
            </a:r>
          </a:p>
        </p:txBody>
      </p:sp>
      <p:sp>
        <p:nvSpPr>
          <p:cNvPr id="45098" name="Text Box 46"/>
          <p:cNvSpPr txBox="1">
            <a:spLocks noChangeArrowheads="1"/>
          </p:cNvSpPr>
          <p:nvPr/>
        </p:nvSpPr>
        <p:spPr bwMode="auto">
          <a:xfrm>
            <a:off x="609600" y="4724400"/>
            <a:ext cx="2343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list.add(6);</a:t>
            </a:r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Building a Linked List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992313"/>
            <a:ext cx="8226425" cy="587375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  List.add(8); list.add(7); list.add(1);</a:t>
            </a:r>
          </a:p>
        </p:txBody>
      </p:sp>
      <p:sp>
        <p:nvSpPr>
          <p:cNvPr id="46084" name="Rectangle 5"/>
          <p:cNvSpPr>
            <a:spLocks noChangeArrowheads="1"/>
          </p:cNvSpPr>
          <p:nvPr/>
        </p:nvSpPr>
        <p:spPr bwMode="auto">
          <a:xfrm>
            <a:off x="2297113" y="36893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5" name="Line 6"/>
          <p:cNvSpPr>
            <a:spLocks noChangeShapeType="1"/>
          </p:cNvSpPr>
          <p:nvPr/>
        </p:nvSpPr>
        <p:spPr bwMode="auto">
          <a:xfrm>
            <a:off x="2601913" y="3689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6" name="Line 7"/>
          <p:cNvSpPr>
            <a:spLocks noChangeShapeType="1"/>
          </p:cNvSpPr>
          <p:nvPr/>
        </p:nvSpPr>
        <p:spPr bwMode="auto">
          <a:xfrm>
            <a:off x="2678113" y="38417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087" name="Rectangle 8"/>
          <p:cNvSpPr>
            <a:spLocks noChangeArrowheads="1"/>
          </p:cNvSpPr>
          <p:nvPr/>
        </p:nvSpPr>
        <p:spPr bwMode="auto">
          <a:xfrm>
            <a:off x="2982913" y="36893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8" name="Line 9"/>
          <p:cNvSpPr>
            <a:spLocks noChangeShapeType="1"/>
          </p:cNvSpPr>
          <p:nvPr/>
        </p:nvSpPr>
        <p:spPr bwMode="auto">
          <a:xfrm>
            <a:off x="3287713" y="3689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9" name="Text Box 10"/>
          <p:cNvSpPr txBox="1">
            <a:spLocks noChangeArrowheads="1"/>
          </p:cNvSpPr>
          <p:nvPr/>
        </p:nvSpPr>
        <p:spPr bwMode="auto">
          <a:xfrm>
            <a:off x="2982913" y="3657600"/>
            <a:ext cx="369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2</a:t>
            </a:r>
          </a:p>
        </p:txBody>
      </p:sp>
      <p:sp>
        <p:nvSpPr>
          <p:cNvPr id="46090" name="Line 11"/>
          <p:cNvSpPr>
            <a:spLocks noChangeShapeType="1"/>
          </p:cNvSpPr>
          <p:nvPr/>
        </p:nvSpPr>
        <p:spPr bwMode="auto">
          <a:xfrm>
            <a:off x="3363913" y="38417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091" name="Rectangle 12"/>
          <p:cNvSpPr>
            <a:spLocks noChangeArrowheads="1"/>
          </p:cNvSpPr>
          <p:nvPr/>
        </p:nvSpPr>
        <p:spPr bwMode="auto">
          <a:xfrm>
            <a:off x="3668713" y="36893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>
            <a:off x="3973513" y="3689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3" name="Text Box 14"/>
          <p:cNvSpPr txBox="1">
            <a:spLocks noChangeArrowheads="1"/>
          </p:cNvSpPr>
          <p:nvPr/>
        </p:nvSpPr>
        <p:spPr bwMode="auto">
          <a:xfrm>
            <a:off x="3668713" y="365760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6</a:t>
            </a:r>
          </a:p>
        </p:txBody>
      </p:sp>
      <p:sp>
        <p:nvSpPr>
          <p:cNvPr id="46094" name="Line 15"/>
          <p:cNvSpPr>
            <a:spLocks noChangeShapeType="1"/>
          </p:cNvSpPr>
          <p:nvPr/>
        </p:nvSpPr>
        <p:spPr bwMode="auto">
          <a:xfrm>
            <a:off x="4049713" y="38417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5029200" y="3657600"/>
            <a:ext cx="685800" cy="336550"/>
            <a:chOff x="3127" y="1728"/>
            <a:chExt cx="432" cy="212"/>
          </a:xfrm>
        </p:grpSpPr>
        <p:sp>
          <p:nvSpPr>
            <p:cNvPr id="46111" name="Rectangle 16"/>
            <p:cNvSpPr>
              <a:spLocks noChangeArrowheads="1"/>
            </p:cNvSpPr>
            <p:nvPr/>
          </p:nvSpPr>
          <p:spPr bwMode="auto">
            <a:xfrm>
              <a:off x="3127" y="1748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2" name="Line 17"/>
            <p:cNvSpPr>
              <a:spLocks noChangeShapeType="1"/>
            </p:cNvSpPr>
            <p:nvPr/>
          </p:nvSpPr>
          <p:spPr bwMode="auto">
            <a:xfrm>
              <a:off x="3319" y="17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13" name="Text Box 18"/>
            <p:cNvSpPr txBox="1">
              <a:spLocks noChangeArrowheads="1"/>
            </p:cNvSpPr>
            <p:nvPr/>
          </p:nvSpPr>
          <p:spPr bwMode="auto">
            <a:xfrm>
              <a:off x="3127" y="1728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0">
                  <a:latin typeface="Helvetica" pitchFamily="34" charset="0"/>
                </a:rPr>
                <a:t>7</a:t>
              </a:r>
            </a:p>
          </p:txBody>
        </p:sp>
        <p:sp>
          <p:nvSpPr>
            <p:cNvPr id="46114" name="Line 19"/>
            <p:cNvSpPr>
              <a:spLocks noChangeShapeType="1"/>
            </p:cNvSpPr>
            <p:nvPr/>
          </p:nvSpPr>
          <p:spPr bwMode="auto">
            <a:xfrm>
              <a:off x="3367" y="184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096" name="Rectangle 20"/>
          <p:cNvSpPr>
            <a:spLocks noChangeArrowheads="1"/>
          </p:cNvSpPr>
          <p:nvPr/>
        </p:nvSpPr>
        <p:spPr bwMode="auto">
          <a:xfrm>
            <a:off x="5715000" y="36893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7" name="Line 21"/>
          <p:cNvSpPr>
            <a:spLocks noChangeShapeType="1"/>
          </p:cNvSpPr>
          <p:nvPr/>
        </p:nvSpPr>
        <p:spPr bwMode="auto">
          <a:xfrm>
            <a:off x="6019800" y="3689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8" name="Text Box 22"/>
          <p:cNvSpPr txBox="1">
            <a:spLocks noChangeArrowheads="1"/>
          </p:cNvSpPr>
          <p:nvPr/>
        </p:nvSpPr>
        <p:spPr bwMode="auto">
          <a:xfrm>
            <a:off x="5715000" y="36576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1</a:t>
            </a:r>
          </a:p>
        </p:txBody>
      </p:sp>
      <p:sp>
        <p:nvSpPr>
          <p:cNvPr id="46099" name="Line 23"/>
          <p:cNvSpPr>
            <a:spLocks noChangeShapeType="1"/>
          </p:cNvSpPr>
          <p:nvPr/>
        </p:nvSpPr>
        <p:spPr bwMode="auto">
          <a:xfrm flipH="1">
            <a:off x="6019800" y="3733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0" name="Text Box 24"/>
          <p:cNvSpPr txBox="1">
            <a:spLocks noChangeArrowheads="1"/>
          </p:cNvSpPr>
          <p:nvPr/>
        </p:nvSpPr>
        <p:spPr bwMode="auto">
          <a:xfrm>
            <a:off x="685800" y="365760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headNode</a:t>
            </a:r>
          </a:p>
        </p:txBody>
      </p:sp>
      <p:sp>
        <p:nvSpPr>
          <p:cNvPr id="46101" name="Text Box 27"/>
          <p:cNvSpPr txBox="1">
            <a:spLocks noChangeArrowheads="1"/>
          </p:cNvSpPr>
          <p:nvPr/>
        </p:nvSpPr>
        <p:spPr bwMode="auto">
          <a:xfrm>
            <a:off x="5327650" y="31242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currentNode</a:t>
            </a:r>
          </a:p>
        </p:txBody>
      </p:sp>
      <p:sp>
        <p:nvSpPr>
          <p:cNvPr id="46102" name="Text Box 28"/>
          <p:cNvSpPr txBox="1">
            <a:spLocks noChangeArrowheads="1"/>
          </p:cNvSpPr>
          <p:nvPr/>
        </p:nvSpPr>
        <p:spPr bwMode="auto">
          <a:xfrm>
            <a:off x="6538913" y="36576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size=5</a:t>
            </a:r>
          </a:p>
        </p:txBody>
      </p:sp>
      <p:sp>
        <p:nvSpPr>
          <p:cNvPr id="46103" name="Text Box 29"/>
          <p:cNvSpPr txBox="1">
            <a:spLocks noChangeArrowheads="1"/>
          </p:cNvSpPr>
          <p:nvPr/>
        </p:nvSpPr>
        <p:spPr bwMode="auto">
          <a:xfrm>
            <a:off x="4267200" y="4159250"/>
            <a:ext cx="1617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lastcurrentNode</a:t>
            </a:r>
          </a:p>
        </p:txBody>
      </p:sp>
      <p:sp>
        <p:nvSpPr>
          <p:cNvPr id="46104" name="Line 30"/>
          <p:cNvSpPr>
            <a:spLocks noChangeShapeType="1"/>
          </p:cNvSpPr>
          <p:nvPr/>
        </p:nvSpPr>
        <p:spPr bwMode="auto">
          <a:xfrm>
            <a:off x="5867400" y="3429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5" name="Line 31"/>
          <p:cNvSpPr>
            <a:spLocks noChangeShapeType="1"/>
          </p:cNvSpPr>
          <p:nvPr/>
        </p:nvSpPr>
        <p:spPr bwMode="auto">
          <a:xfrm flipV="1">
            <a:off x="5186363" y="4038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6" name="Rectangle 35"/>
          <p:cNvSpPr>
            <a:spLocks noChangeArrowheads="1"/>
          </p:cNvSpPr>
          <p:nvPr/>
        </p:nvSpPr>
        <p:spPr bwMode="auto">
          <a:xfrm>
            <a:off x="4343400" y="36893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07" name="Line 36"/>
          <p:cNvSpPr>
            <a:spLocks noChangeShapeType="1"/>
          </p:cNvSpPr>
          <p:nvPr/>
        </p:nvSpPr>
        <p:spPr bwMode="auto">
          <a:xfrm>
            <a:off x="4648200" y="3689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8" name="Text Box 37"/>
          <p:cNvSpPr txBox="1">
            <a:spLocks noChangeArrowheads="1"/>
          </p:cNvSpPr>
          <p:nvPr/>
        </p:nvSpPr>
        <p:spPr bwMode="auto">
          <a:xfrm>
            <a:off x="4343400" y="36576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>
                <a:latin typeface="Helvetica" pitchFamily="34" charset="0"/>
              </a:rPr>
              <a:t>8</a:t>
            </a:r>
          </a:p>
        </p:txBody>
      </p:sp>
      <p:sp>
        <p:nvSpPr>
          <p:cNvPr id="46109" name="Line 38"/>
          <p:cNvSpPr>
            <a:spLocks noChangeShapeType="1"/>
          </p:cNvSpPr>
          <p:nvPr/>
        </p:nvSpPr>
        <p:spPr bwMode="auto">
          <a:xfrm>
            <a:off x="4724400" y="38417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110" name="Line 40"/>
          <p:cNvSpPr>
            <a:spLocks noChangeShapeType="1"/>
          </p:cNvSpPr>
          <p:nvPr/>
        </p:nvSpPr>
        <p:spPr bwMode="auto">
          <a:xfrm>
            <a:off x="1804988" y="3841750"/>
            <a:ext cx="492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1000" y="396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Insertion at the beginning of a List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2800" b="1" dirty="0"/>
              <a:t>Insertion into a Linked List:</a:t>
            </a:r>
          </a:p>
          <a:p>
            <a:r>
              <a:rPr lang="en-US" sz="2400" dirty="0"/>
              <a:t>If a node N is to be inserted into the list between nodes </a:t>
            </a:r>
            <a:r>
              <a:rPr lang="en-US" sz="2400" b="1" dirty="0"/>
              <a:t>A </a:t>
            </a:r>
            <a:r>
              <a:rPr lang="en-US" sz="2400" dirty="0"/>
              <a:t>and</a:t>
            </a:r>
            <a:r>
              <a:rPr lang="en-US" sz="2400" b="1" dirty="0"/>
              <a:t> B </a:t>
            </a:r>
            <a:r>
              <a:rPr lang="en-US" sz="2400" dirty="0"/>
              <a:t>in a linked list named LIST. Its schematic diagram would be: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447800"/>
            <a:ext cx="7620000" cy="226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4267200"/>
            <a:ext cx="8610600" cy="23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Inserting at the Beginning of a List:</a:t>
            </a:r>
          </a:p>
          <a:p>
            <a:r>
              <a:rPr lang="en-US" sz="2400" dirty="0"/>
              <a:t>If the linked list is sorted list and new node has the least low value already stored in the list i.e. (</a:t>
            </a:r>
            <a:r>
              <a:rPr lang="en-US" sz="2400" b="1" i="1" dirty="0"/>
              <a:t>if New-&gt;info &lt; Head-&gt;info) </a:t>
            </a:r>
            <a:r>
              <a:rPr lang="en-US" sz="2400" i="1" dirty="0"/>
              <a:t>then new node is inserted at </a:t>
            </a:r>
            <a:r>
              <a:rPr lang="en-US" sz="2400" dirty="0"/>
              <a:t>the beginning / Top of the list.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438400"/>
            <a:ext cx="8006098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1875" t="19792" r="28906" b="11458"/>
          <a:stretch>
            <a:fillRect/>
          </a:stretch>
        </p:blipFill>
        <p:spPr bwMode="auto">
          <a:xfrm>
            <a:off x="457200" y="228600"/>
            <a:ext cx="82296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" y="228600"/>
            <a:ext cx="86868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>
                <a:latin typeface="Times New Roman" pitchFamily="18" charset="0"/>
                <a:ea typeface="Batang"/>
                <a:cs typeface="Times New Roman" pitchFamily="18" charset="0"/>
              </a:rPr>
              <a:t>Insertion In Sorted Linked List</a:t>
            </a:r>
            <a:endParaRPr lang="en-US" altLang="ko-KR" sz="16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latin typeface="Times New Roman" pitchFamily="18" charset="0"/>
                <a:ea typeface="Batang"/>
                <a:cs typeface="Times New Roman" pitchFamily="18" charset="0"/>
              </a:rPr>
              <a:t>Steps:</a:t>
            </a:r>
            <a:endParaRPr lang="en-US" altLang="ko-KR" sz="16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ko-KR" dirty="0">
                <a:latin typeface="Times New Roman" pitchFamily="18" charset="0"/>
                <a:ea typeface="Batang"/>
                <a:cs typeface="Times New Roman" pitchFamily="18" charset="0"/>
              </a:rPr>
              <a:t>Find the Location of the node after witch new node will be inserted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ko-KR" dirty="0">
                <a:latin typeface="Times New Roman" pitchFamily="18" charset="0"/>
                <a:ea typeface="Batang"/>
                <a:cs typeface="Times New Roman" pitchFamily="18" charset="0"/>
              </a:rPr>
              <a:t>Use Insertion method to insert into the Linked List</a:t>
            </a:r>
            <a:endParaRPr lang="en-US" altLang="ko-KR" sz="16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latin typeface="Times New Roman" pitchFamily="18" charset="0"/>
                <a:ea typeface="Batang"/>
                <a:cs typeface="Times New Roman" pitchFamily="18" charset="0"/>
              </a:rPr>
              <a:t>Find the Location of the node</a:t>
            </a:r>
            <a:endParaRPr lang="en-US" altLang="ko-KR" sz="16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ko-KR" dirty="0">
                <a:latin typeface="Times New Roman" pitchFamily="18" charset="0"/>
                <a:ea typeface="Batang"/>
                <a:cs typeface="Times New Roman" pitchFamily="18" charset="0"/>
              </a:rPr>
              <a:t>Search the Item after which insertion needs to be made . As the Linked List is sorted searching will result in the location of element &gt;given ITEM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ko-KR" dirty="0">
                <a:latin typeface="Times New Roman" pitchFamily="18" charset="0"/>
                <a:ea typeface="Batang"/>
                <a:cs typeface="Times New Roman" pitchFamily="18" charset="0"/>
              </a:rPr>
              <a:t>As Insertion can not be made before a Node therefore another pointer will keep track of the previous node </a:t>
            </a:r>
            <a:r>
              <a:rPr lang="en-US" altLang="ko-KR" dirty="0" err="1">
                <a:latin typeface="Times New Roman" pitchFamily="18" charset="0"/>
                <a:ea typeface="Batang"/>
                <a:cs typeface="Times New Roman" pitchFamily="18" charset="0"/>
              </a:rPr>
              <a:t>i.e</a:t>
            </a:r>
            <a:r>
              <a:rPr lang="en-US" altLang="ko-KR" dirty="0">
                <a:latin typeface="Times New Roman" pitchFamily="18" charset="0"/>
                <a:ea typeface="Batang"/>
                <a:cs typeface="Times New Roman" pitchFamily="18" charset="0"/>
              </a:rPr>
              <a:t> before moving the PTR , Save := PTR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ko-KR" dirty="0">
                <a:latin typeface="Times New Roman" pitchFamily="18" charset="0"/>
                <a:ea typeface="Batang"/>
                <a:cs typeface="Times New Roman" pitchFamily="18" charset="0"/>
              </a:rPr>
              <a:t>Thus PTR points to current node Element which is &gt; ITEM while SAVE points to Element&lt;ITEM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ko-KR" dirty="0">
                <a:latin typeface="Times New Roman" pitchFamily="18" charset="0"/>
                <a:ea typeface="Batang"/>
                <a:cs typeface="Times New Roman" pitchFamily="18" charset="0"/>
              </a:rPr>
              <a:t>Thus Insertion can be made after SAVE</a:t>
            </a:r>
            <a:endParaRPr lang="en-US" altLang="ko-KR" sz="1600" dirty="0"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2800" dirty="0">
              <a:latin typeface="Arial" pitchFamily="34" charset="0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 l="21875" t="27083" r="39844" b="51042"/>
          <a:stretch>
            <a:fillRect/>
          </a:stretch>
        </p:blipFill>
        <p:spPr bwMode="auto">
          <a:xfrm>
            <a:off x="381000" y="3886200"/>
            <a:ext cx="8077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/>
          <a:srcRect l="21875" t="27083" r="39844" b="51042"/>
          <a:stretch>
            <a:fillRect/>
          </a:stretch>
        </p:blipFill>
        <p:spPr bwMode="auto">
          <a:xfrm>
            <a:off x="304800" y="0"/>
            <a:ext cx="8077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209800"/>
            <a:ext cx="74104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4495800"/>
            <a:ext cx="737235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4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3124200"/>
            <a:ext cx="3810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4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5410200"/>
            <a:ext cx="3810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838200" y="30480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3340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2209800"/>
            <a:ext cx="8226425" cy="182880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int get() {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if (currentNode != NULL)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    return currentNode-&gt;get();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};</a:t>
            </a:r>
            <a:endParaRPr lang="en-US" sz="280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570413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bool next()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if (currentNode == NULL) return false;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lastCurrentNode = currentNode;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currentNode = currentNode-&gt;getNext();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if (currentNode == NULL || size == 0)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	return false;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else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	return true;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34" charset="0"/>
              </a:rPr>
              <a:t>Deletion from a Link List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916988" cy="2819400"/>
          </a:xfrm>
        </p:spPr>
        <p:txBody>
          <a:bodyPr>
            <a:normAutofit fontScale="92500" lnSpcReduction="20000"/>
          </a:bodyPr>
          <a:lstStyle/>
          <a:p>
            <a:pPr marL="533400" indent="-533400">
              <a:lnSpc>
                <a:spcPct val="80000"/>
              </a:lnSpc>
              <a:buNone/>
            </a:pPr>
            <a:r>
              <a:rPr lang="en-US" sz="2200" b="1" dirty="0">
                <a:latin typeface="Helvetica" pitchFamily="34" charset="0"/>
              </a:rPr>
              <a:t>C++ Code for Linked List</a:t>
            </a:r>
          </a:p>
          <a:p>
            <a:pPr marL="533400" indent="-533400">
              <a:lnSpc>
                <a:spcPct val="80000"/>
              </a:lnSpc>
              <a:buNone/>
            </a:pPr>
            <a:endParaRPr lang="en-US" sz="2000" b="1" dirty="0">
              <a:latin typeface="Helvetica" pitchFamily="34" charset="0"/>
            </a:endParaRPr>
          </a:p>
          <a:p>
            <a:pPr marL="533400" indent="-533400">
              <a:lnSpc>
                <a:spcPct val="80000"/>
              </a:lnSpc>
              <a:buNone/>
            </a:pPr>
            <a:r>
              <a:rPr lang="en-US" sz="2000" b="1" dirty="0">
                <a:latin typeface="Courier New" pitchFamily="49" charset="0"/>
              </a:rPr>
              <a:t>void remove()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if(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NULL &amp;&amp;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</a:t>
            </a:r>
            <a:r>
              <a:rPr lang="en-US" sz="2000" b="1" dirty="0" err="1">
                <a:latin typeface="Courier New" pitchFamily="49" charset="0"/>
              </a:rPr>
              <a:t>headNode</a:t>
            </a:r>
            <a:r>
              <a:rPr lang="en-US" sz="2000" b="1" dirty="0">
                <a:latin typeface="Courier New" pitchFamily="49" charset="0"/>
              </a:rPr>
              <a:t>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setNext</a:t>
            </a:r>
            <a:r>
              <a:rPr lang="en-US" sz="2000" b="1" dirty="0">
                <a:latin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delete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size--;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}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};</a:t>
            </a: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19161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6"/>
          <p:cNvSpPr>
            <a:spLocks noChangeShapeType="1"/>
          </p:cNvSpPr>
          <p:nvPr/>
        </p:nvSpPr>
        <p:spPr bwMode="auto">
          <a:xfrm>
            <a:off x="22209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" name="Line 7"/>
          <p:cNvSpPr>
            <a:spLocks noChangeShapeType="1"/>
          </p:cNvSpPr>
          <p:nvPr/>
        </p:nvSpPr>
        <p:spPr bwMode="auto">
          <a:xfrm>
            <a:off x="2297113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3" name="Rectangle 8"/>
          <p:cNvSpPr>
            <a:spLocks noChangeArrowheads="1"/>
          </p:cNvSpPr>
          <p:nvPr/>
        </p:nvSpPr>
        <p:spPr bwMode="auto">
          <a:xfrm>
            <a:off x="26019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Line 9"/>
          <p:cNvSpPr>
            <a:spLocks noChangeShapeType="1"/>
          </p:cNvSpPr>
          <p:nvPr/>
        </p:nvSpPr>
        <p:spPr bwMode="auto">
          <a:xfrm>
            <a:off x="29067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601913" y="5029200"/>
            <a:ext cx="369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dirty="0">
                <a:latin typeface="Helvetica" pitchFamily="34" charset="0"/>
              </a:rPr>
              <a:t>2</a:t>
            </a:r>
          </a:p>
        </p:txBody>
      </p:sp>
      <p:sp>
        <p:nvSpPr>
          <p:cNvPr id="4106" name="Line 11"/>
          <p:cNvSpPr>
            <a:spLocks noChangeShapeType="1"/>
          </p:cNvSpPr>
          <p:nvPr/>
        </p:nvSpPr>
        <p:spPr bwMode="auto">
          <a:xfrm>
            <a:off x="2982913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7" name="Rectangle 12"/>
          <p:cNvSpPr>
            <a:spLocks noChangeArrowheads="1"/>
          </p:cNvSpPr>
          <p:nvPr/>
        </p:nvSpPr>
        <p:spPr bwMode="auto">
          <a:xfrm>
            <a:off x="32877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35925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9" name="Text Box 14"/>
          <p:cNvSpPr txBox="1">
            <a:spLocks noChangeArrowheads="1"/>
          </p:cNvSpPr>
          <p:nvPr/>
        </p:nvSpPr>
        <p:spPr bwMode="auto">
          <a:xfrm>
            <a:off x="3287713" y="502920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3668713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648200" y="5029200"/>
            <a:ext cx="685800" cy="336550"/>
            <a:chOff x="3127" y="1728"/>
            <a:chExt cx="432" cy="212"/>
          </a:xfrm>
        </p:grpSpPr>
        <p:sp>
          <p:nvSpPr>
            <p:cNvPr id="4128" name="Rectangle 17"/>
            <p:cNvSpPr>
              <a:spLocks noChangeArrowheads="1"/>
            </p:cNvSpPr>
            <p:nvPr/>
          </p:nvSpPr>
          <p:spPr bwMode="auto">
            <a:xfrm>
              <a:off x="3127" y="1748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8"/>
            <p:cNvSpPr>
              <a:spLocks noChangeShapeType="1"/>
            </p:cNvSpPr>
            <p:nvPr/>
          </p:nvSpPr>
          <p:spPr bwMode="auto">
            <a:xfrm>
              <a:off x="3319" y="17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Text Box 19"/>
            <p:cNvSpPr txBox="1">
              <a:spLocks noChangeArrowheads="1"/>
            </p:cNvSpPr>
            <p:nvPr/>
          </p:nvSpPr>
          <p:spPr bwMode="auto">
            <a:xfrm>
              <a:off x="3127" y="1728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7</a:t>
              </a:r>
            </a:p>
          </p:txBody>
        </p:sp>
        <p:sp>
          <p:nvSpPr>
            <p:cNvPr id="4131" name="Line 20"/>
            <p:cNvSpPr>
              <a:spLocks noChangeShapeType="1"/>
            </p:cNvSpPr>
            <p:nvPr/>
          </p:nvSpPr>
          <p:spPr bwMode="auto">
            <a:xfrm>
              <a:off x="3367" y="184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12" name="Rectangle 21"/>
          <p:cNvSpPr>
            <a:spLocks noChangeArrowheads="1"/>
          </p:cNvSpPr>
          <p:nvPr/>
        </p:nvSpPr>
        <p:spPr bwMode="auto">
          <a:xfrm>
            <a:off x="53340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22"/>
          <p:cNvSpPr>
            <a:spLocks noChangeShapeType="1"/>
          </p:cNvSpPr>
          <p:nvPr/>
        </p:nvSpPr>
        <p:spPr bwMode="auto">
          <a:xfrm>
            <a:off x="56388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4" name="Text Box 23"/>
          <p:cNvSpPr txBox="1">
            <a:spLocks noChangeArrowheads="1"/>
          </p:cNvSpPr>
          <p:nvPr/>
        </p:nvSpPr>
        <p:spPr bwMode="auto">
          <a:xfrm>
            <a:off x="53340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1</a:t>
            </a:r>
          </a:p>
        </p:txBody>
      </p:sp>
      <p:sp>
        <p:nvSpPr>
          <p:cNvPr id="4115" name="Line 24"/>
          <p:cNvSpPr>
            <a:spLocks noChangeShapeType="1"/>
          </p:cNvSpPr>
          <p:nvPr/>
        </p:nvSpPr>
        <p:spPr bwMode="auto">
          <a:xfrm flipH="1">
            <a:off x="56388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6" name="Text Box 25"/>
          <p:cNvSpPr txBox="1">
            <a:spLocks noChangeArrowheads="1"/>
          </p:cNvSpPr>
          <p:nvPr/>
        </p:nvSpPr>
        <p:spPr bwMode="auto">
          <a:xfrm>
            <a:off x="685800" y="449580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headNode</a:t>
            </a:r>
          </a:p>
        </p:txBody>
      </p:sp>
      <p:sp>
        <p:nvSpPr>
          <p:cNvPr id="4117" name="Line 26"/>
          <p:cNvSpPr>
            <a:spLocks noChangeShapeType="1"/>
          </p:cNvSpPr>
          <p:nvPr/>
        </p:nvSpPr>
        <p:spPr bwMode="auto">
          <a:xfrm>
            <a:off x="1722438" y="46799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8" name="Line 27"/>
          <p:cNvSpPr>
            <a:spLocks noChangeShapeType="1"/>
          </p:cNvSpPr>
          <p:nvPr/>
        </p:nvSpPr>
        <p:spPr bwMode="auto">
          <a:xfrm>
            <a:off x="1951038" y="46799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19" name="Text Box 28"/>
          <p:cNvSpPr txBox="1">
            <a:spLocks noChangeArrowheads="1"/>
          </p:cNvSpPr>
          <p:nvPr/>
        </p:nvSpPr>
        <p:spPr bwMode="auto">
          <a:xfrm>
            <a:off x="2971800" y="41910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currentNode</a:t>
            </a:r>
          </a:p>
        </p:txBody>
      </p:sp>
      <p:sp>
        <p:nvSpPr>
          <p:cNvPr id="4120" name="Text Box 29"/>
          <p:cNvSpPr txBox="1">
            <a:spLocks noChangeArrowheads="1"/>
          </p:cNvSpPr>
          <p:nvPr/>
        </p:nvSpPr>
        <p:spPr bwMode="auto">
          <a:xfrm>
            <a:off x="6157913" y="50292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4121" name="Text Box 30"/>
          <p:cNvSpPr txBox="1">
            <a:spLocks noChangeArrowheads="1"/>
          </p:cNvSpPr>
          <p:nvPr/>
        </p:nvSpPr>
        <p:spPr bwMode="auto">
          <a:xfrm>
            <a:off x="1905000" y="5530850"/>
            <a:ext cx="1617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dirty="0" err="1">
                <a:latin typeface="Helvetica" pitchFamily="34" charset="0"/>
              </a:rPr>
              <a:t>lastcurrentNode</a:t>
            </a:r>
            <a:endParaRPr lang="en-US" sz="1600" dirty="0">
              <a:latin typeface="Helvetica" pitchFamily="34" charset="0"/>
            </a:endParaRPr>
          </a:p>
        </p:txBody>
      </p:sp>
      <p:sp>
        <p:nvSpPr>
          <p:cNvPr id="4122" name="Line 31"/>
          <p:cNvSpPr>
            <a:spLocks noChangeShapeType="1"/>
          </p:cNvSpPr>
          <p:nvPr/>
        </p:nvSpPr>
        <p:spPr bwMode="auto">
          <a:xfrm>
            <a:off x="3505200" y="4495800"/>
            <a:ext cx="63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23" name="Line 32"/>
          <p:cNvSpPr>
            <a:spLocks noChangeShapeType="1"/>
          </p:cNvSpPr>
          <p:nvPr/>
        </p:nvSpPr>
        <p:spPr bwMode="auto">
          <a:xfrm flipV="1">
            <a:off x="2824163" y="5410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24" name="Rectangle 33"/>
          <p:cNvSpPr>
            <a:spLocks noChangeArrowheads="1"/>
          </p:cNvSpPr>
          <p:nvPr/>
        </p:nvSpPr>
        <p:spPr bwMode="auto">
          <a:xfrm>
            <a:off x="39624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25" name="Line 34"/>
          <p:cNvSpPr>
            <a:spLocks noChangeShapeType="1"/>
          </p:cNvSpPr>
          <p:nvPr/>
        </p:nvSpPr>
        <p:spPr bwMode="auto">
          <a:xfrm>
            <a:off x="42672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6" name="Text Box 35"/>
          <p:cNvSpPr txBox="1">
            <a:spLocks noChangeArrowheads="1"/>
          </p:cNvSpPr>
          <p:nvPr/>
        </p:nvSpPr>
        <p:spPr bwMode="auto">
          <a:xfrm>
            <a:off x="39624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4127" name="Line 36"/>
          <p:cNvSpPr>
            <a:spLocks noChangeShapeType="1"/>
          </p:cNvSpPr>
          <p:nvPr/>
        </p:nvSpPr>
        <p:spPr bwMode="auto">
          <a:xfrm>
            <a:off x="4343400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Helvetica" pitchFamily="34" charset="0"/>
              </a:rPr>
              <a:t>C++ Code for Linked List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void remove()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if(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NULL &amp;&amp;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</a:t>
            </a:r>
            <a:r>
              <a:rPr lang="en-US" sz="2000" b="1" dirty="0" err="1">
                <a:latin typeface="Courier New" pitchFamily="49" charset="0"/>
              </a:rPr>
              <a:t>headNode</a:t>
            </a:r>
            <a:r>
              <a:rPr lang="en-US" sz="2000" b="1" dirty="0">
                <a:latin typeface="Courier New" pitchFamily="49" charset="0"/>
              </a:rPr>
              <a:t>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setNext</a:t>
            </a:r>
            <a:r>
              <a:rPr lang="en-US" sz="2000" b="1" dirty="0">
                <a:latin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delete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size--;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}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};</a:t>
            </a: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9161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22209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2297113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6019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29067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2601913" y="5029200"/>
            <a:ext cx="369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sp>
        <p:nvSpPr>
          <p:cNvPr id="5130" name="Rectangle 11"/>
          <p:cNvSpPr>
            <a:spLocks noChangeArrowheads="1"/>
          </p:cNvSpPr>
          <p:nvPr/>
        </p:nvSpPr>
        <p:spPr bwMode="auto">
          <a:xfrm>
            <a:off x="32877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>
            <a:off x="35925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2" name="Text Box 13"/>
          <p:cNvSpPr txBox="1">
            <a:spLocks noChangeArrowheads="1"/>
          </p:cNvSpPr>
          <p:nvPr/>
        </p:nvSpPr>
        <p:spPr bwMode="auto">
          <a:xfrm>
            <a:off x="3287713" y="502920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5133" name="Line 14"/>
          <p:cNvSpPr>
            <a:spLocks noChangeShapeType="1"/>
          </p:cNvSpPr>
          <p:nvPr/>
        </p:nvSpPr>
        <p:spPr bwMode="auto">
          <a:xfrm>
            <a:off x="3668713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648200" y="5029200"/>
            <a:ext cx="685800" cy="336550"/>
            <a:chOff x="3127" y="1728"/>
            <a:chExt cx="432" cy="212"/>
          </a:xfrm>
        </p:grpSpPr>
        <p:sp>
          <p:nvSpPr>
            <p:cNvPr id="5158" name="Rectangle 16"/>
            <p:cNvSpPr>
              <a:spLocks noChangeArrowheads="1"/>
            </p:cNvSpPr>
            <p:nvPr/>
          </p:nvSpPr>
          <p:spPr bwMode="auto">
            <a:xfrm>
              <a:off x="3127" y="1748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Line 17"/>
            <p:cNvSpPr>
              <a:spLocks noChangeShapeType="1"/>
            </p:cNvSpPr>
            <p:nvPr/>
          </p:nvSpPr>
          <p:spPr bwMode="auto">
            <a:xfrm>
              <a:off x="3319" y="17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0" name="Text Box 18"/>
            <p:cNvSpPr txBox="1">
              <a:spLocks noChangeArrowheads="1"/>
            </p:cNvSpPr>
            <p:nvPr/>
          </p:nvSpPr>
          <p:spPr bwMode="auto">
            <a:xfrm>
              <a:off x="3127" y="1728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7</a:t>
              </a:r>
            </a:p>
          </p:txBody>
        </p:sp>
        <p:sp>
          <p:nvSpPr>
            <p:cNvPr id="5161" name="Line 19"/>
            <p:cNvSpPr>
              <a:spLocks noChangeShapeType="1"/>
            </p:cNvSpPr>
            <p:nvPr/>
          </p:nvSpPr>
          <p:spPr bwMode="auto">
            <a:xfrm>
              <a:off x="3367" y="184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5" name="Rectangle 20"/>
          <p:cNvSpPr>
            <a:spLocks noChangeArrowheads="1"/>
          </p:cNvSpPr>
          <p:nvPr/>
        </p:nvSpPr>
        <p:spPr bwMode="auto">
          <a:xfrm>
            <a:off x="53340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6" name="Line 21"/>
          <p:cNvSpPr>
            <a:spLocks noChangeShapeType="1"/>
          </p:cNvSpPr>
          <p:nvPr/>
        </p:nvSpPr>
        <p:spPr bwMode="auto">
          <a:xfrm>
            <a:off x="56388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7" name="Text Box 22"/>
          <p:cNvSpPr txBox="1">
            <a:spLocks noChangeArrowheads="1"/>
          </p:cNvSpPr>
          <p:nvPr/>
        </p:nvSpPr>
        <p:spPr bwMode="auto">
          <a:xfrm>
            <a:off x="53340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1</a:t>
            </a:r>
          </a:p>
        </p:txBody>
      </p:sp>
      <p:sp>
        <p:nvSpPr>
          <p:cNvPr id="5138" name="Line 23"/>
          <p:cNvSpPr>
            <a:spLocks noChangeShapeType="1"/>
          </p:cNvSpPr>
          <p:nvPr/>
        </p:nvSpPr>
        <p:spPr bwMode="auto">
          <a:xfrm flipH="1">
            <a:off x="56388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9" name="Text Box 24"/>
          <p:cNvSpPr txBox="1">
            <a:spLocks noChangeArrowheads="1"/>
          </p:cNvSpPr>
          <p:nvPr/>
        </p:nvSpPr>
        <p:spPr bwMode="auto">
          <a:xfrm>
            <a:off x="685800" y="449580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headNode</a:t>
            </a:r>
          </a:p>
        </p:txBody>
      </p:sp>
      <p:sp>
        <p:nvSpPr>
          <p:cNvPr id="5140" name="Line 25"/>
          <p:cNvSpPr>
            <a:spLocks noChangeShapeType="1"/>
          </p:cNvSpPr>
          <p:nvPr/>
        </p:nvSpPr>
        <p:spPr bwMode="auto">
          <a:xfrm>
            <a:off x="1722438" y="46799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1" name="Line 26"/>
          <p:cNvSpPr>
            <a:spLocks noChangeShapeType="1"/>
          </p:cNvSpPr>
          <p:nvPr/>
        </p:nvSpPr>
        <p:spPr bwMode="auto">
          <a:xfrm>
            <a:off x="1951038" y="46799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42" name="Text Box 27"/>
          <p:cNvSpPr txBox="1">
            <a:spLocks noChangeArrowheads="1"/>
          </p:cNvSpPr>
          <p:nvPr/>
        </p:nvSpPr>
        <p:spPr bwMode="auto">
          <a:xfrm>
            <a:off x="2971800" y="41910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currentNode</a:t>
            </a:r>
          </a:p>
        </p:txBody>
      </p:sp>
      <p:sp>
        <p:nvSpPr>
          <p:cNvPr id="5143" name="Text Box 28"/>
          <p:cNvSpPr txBox="1">
            <a:spLocks noChangeArrowheads="1"/>
          </p:cNvSpPr>
          <p:nvPr/>
        </p:nvSpPr>
        <p:spPr bwMode="auto">
          <a:xfrm>
            <a:off x="6157913" y="50292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5144" name="Text Box 29"/>
          <p:cNvSpPr txBox="1">
            <a:spLocks noChangeArrowheads="1"/>
          </p:cNvSpPr>
          <p:nvPr/>
        </p:nvSpPr>
        <p:spPr bwMode="auto">
          <a:xfrm>
            <a:off x="1905000" y="5530850"/>
            <a:ext cx="1617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lastcurrentNode</a:t>
            </a:r>
          </a:p>
        </p:txBody>
      </p:sp>
      <p:sp>
        <p:nvSpPr>
          <p:cNvPr id="5145" name="Line 30"/>
          <p:cNvSpPr>
            <a:spLocks noChangeShapeType="1"/>
          </p:cNvSpPr>
          <p:nvPr/>
        </p:nvSpPr>
        <p:spPr bwMode="auto">
          <a:xfrm>
            <a:off x="3505200" y="4495800"/>
            <a:ext cx="63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46" name="Line 31"/>
          <p:cNvSpPr>
            <a:spLocks noChangeShapeType="1"/>
          </p:cNvSpPr>
          <p:nvPr/>
        </p:nvSpPr>
        <p:spPr bwMode="auto">
          <a:xfrm flipV="1">
            <a:off x="2824163" y="5410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47" name="Rectangle 32"/>
          <p:cNvSpPr>
            <a:spLocks noChangeArrowheads="1"/>
          </p:cNvSpPr>
          <p:nvPr/>
        </p:nvSpPr>
        <p:spPr bwMode="auto">
          <a:xfrm>
            <a:off x="39624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8" name="Line 33"/>
          <p:cNvSpPr>
            <a:spLocks noChangeShapeType="1"/>
          </p:cNvSpPr>
          <p:nvPr/>
        </p:nvSpPr>
        <p:spPr bwMode="auto">
          <a:xfrm>
            <a:off x="42672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9" name="Text Box 34"/>
          <p:cNvSpPr txBox="1">
            <a:spLocks noChangeArrowheads="1"/>
          </p:cNvSpPr>
          <p:nvPr/>
        </p:nvSpPr>
        <p:spPr bwMode="auto">
          <a:xfrm>
            <a:off x="39624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5150" name="Line 35"/>
          <p:cNvSpPr>
            <a:spLocks noChangeShapeType="1"/>
          </p:cNvSpPr>
          <p:nvPr/>
        </p:nvSpPr>
        <p:spPr bwMode="auto">
          <a:xfrm>
            <a:off x="4343400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51" name="Freeform 36"/>
          <p:cNvSpPr>
            <a:spLocks/>
          </p:cNvSpPr>
          <p:nvPr/>
        </p:nvSpPr>
        <p:spPr bwMode="auto">
          <a:xfrm>
            <a:off x="2971800" y="4686300"/>
            <a:ext cx="1219200" cy="419100"/>
          </a:xfrm>
          <a:custGeom>
            <a:avLst/>
            <a:gdLst>
              <a:gd name="T0" fmla="*/ 0 w 768"/>
              <a:gd name="T1" fmla="*/ 264 h 264"/>
              <a:gd name="T2" fmla="*/ 144 w 768"/>
              <a:gd name="T3" fmla="*/ 72 h 264"/>
              <a:gd name="T4" fmla="*/ 624 w 768"/>
              <a:gd name="T5" fmla="*/ 24 h 264"/>
              <a:gd name="T6" fmla="*/ 768 w 768"/>
              <a:gd name="T7" fmla="*/ 216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264"/>
              <a:gd name="T14" fmla="*/ 768 w 768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264">
                <a:moveTo>
                  <a:pt x="0" y="264"/>
                </a:moveTo>
                <a:cubicBezTo>
                  <a:pt x="20" y="188"/>
                  <a:pt x="40" y="112"/>
                  <a:pt x="144" y="72"/>
                </a:cubicBezTo>
                <a:cubicBezTo>
                  <a:pt x="248" y="32"/>
                  <a:pt x="520" y="0"/>
                  <a:pt x="624" y="24"/>
                </a:cubicBezTo>
                <a:cubicBezTo>
                  <a:pt x="728" y="48"/>
                  <a:pt x="748" y="132"/>
                  <a:pt x="768" y="2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1066800" y="2438400"/>
            <a:ext cx="457200" cy="304800"/>
            <a:chOff x="4464" y="3600"/>
            <a:chExt cx="288" cy="192"/>
          </a:xfrm>
        </p:grpSpPr>
        <p:sp>
          <p:nvSpPr>
            <p:cNvPr id="5154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42" name="Group 40"/>
          <p:cNvGrpSpPr>
            <a:grpSpLocks/>
          </p:cNvGrpSpPr>
          <p:nvPr/>
        </p:nvGrpSpPr>
        <p:grpSpPr bwMode="auto">
          <a:xfrm>
            <a:off x="2590800" y="4648200"/>
            <a:ext cx="457200" cy="304800"/>
            <a:chOff x="4464" y="3600"/>
            <a:chExt cx="288" cy="192"/>
          </a:xfrm>
        </p:grpSpPr>
        <p:sp>
          <p:nvSpPr>
            <p:cNvPr id="43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916988" cy="281940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void remove()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if(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NULL &amp;&amp;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</a:t>
            </a:r>
            <a:r>
              <a:rPr lang="en-US" sz="2000" b="1" dirty="0" err="1">
                <a:latin typeface="Courier New" pitchFamily="49" charset="0"/>
              </a:rPr>
              <a:t>headNode</a:t>
            </a:r>
            <a:r>
              <a:rPr lang="en-US" sz="2000" b="1" dirty="0">
                <a:latin typeface="Courier New" pitchFamily="49" charset="0"/>
              </a:rPr>
              <a:t>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setNext</a:t>
            </a:r>
            <a:r>
              <a:rPr lang="en-US" sz="2000" b="1" dirty="0">
                <a:latin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delete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size--;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}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};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9161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22209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2297113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26019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29067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601913" y="5029200"/>
            <a:ext cx="369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dirty="0">
                <a:latin typeface="Helvetica" pitchFamily="34" charset="0"/>
              </a:rPr>
              <a:t>2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648200" y="5029200"/>
            <a:ext cx="685800" cy="336550"/>
            <a:chOff x="3127" y="1728"/>
            <a:chExt cx="432" cy="212"/>
          </a:xfrm>
        </p:grpSpPr>
        <p:sp>
          <p:nvSpPr>
            <p:cNvPr id="6184" name="Rectangle 15"/>
            <p:cNvSpPr>
              <a:spLocks noChangeArrowheads="1"/>
            </p:cNvSpPr>
            <p:nvPr/>
          </p:nvSpPr>
          <p:spPr bwMode="auto">
            <a:xfrm>
              <a:off x="3127" y="1748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Line 16"/>
            <p:cNvSpPr>
              <a:spLocks noChangeShapeType="1"/>
            </p:cNvSpPr>
            <p:nvPr/>
          </p:nvSpPr>
          <p:spPr bwMode="auto">
            <a:xfrm>
              <a:off x="3319" y="17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6" name="Text Box 17"/>
            <p:cNvSpPr txBox="1">
              <a:spLocks noChangeArrowheads="1"/>
            </p:cNvSpPr>
            <p:nvPr/>
          </p:nvSpPr>
          <p:spPr bwMode="auto">
            <a:xfrm>
              <a:off x="3127" y="1728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dirty="0">
                  <a:latin typeface="Helvetica" pitchFamily="34" charset="0"/>
                </a:rPr>
                <a:t>7</a:t>
              </a:r>
            </a:p>
          </p:txBody>
        </p:sp>
        <p:sp>
          <p:nvSpPr>
            <p:cNvPr id="6187" name="Line 18"/>
            <p:cNvSpPr>
              <a:spLocks noChangeShapeType="1"/>
            </p:cNvSpPr>
            <p:nvPr/>
          </p:nvSpPr>
          <p:spPr bwMode="auto">
            <a:xfrm>
              <a:off x="3367" y="184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5" name="Rectangle 19"/>
          <p:cNvSpPr>
            <a:spLocks noChangeArrowheads="1"/>
          </p:cNvSpPr>
          <p:nvPr/>
        </p:nvSpPr>
        <p:spPr bwMode="auto">
          <a:xfrm>
            <a:off x="53340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20"/>
          <p:cNvSpPr>
            <a:spLocks noChangeShapeType="1"/>
          </p:cNvSpPr>
          <p:nvPr/>
        </p:nvSpPr>
        <p:spPr bwMode="auto">
          <a:xfrm>
            <a:off x="56388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7" name="Text Box 21"/>
          <p:cNvSpPr txBox="1">
            <a:spLocks noChangeArrowheads="1"/>
          </p:cNvSpPr>
          <p:nvPr/>
        </p:nvSpPr>
        <p:spPr bwMode="auto">
          <a:xfrm>
            <a:off x="53340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1</a:t>
            </a:r>
          </a:p>
        </p:txBody>
      </p:sp>
      <p:sp>
        <p:nvSpPr>
          <p:cNvPr id="6158" name="Line 22"/>
          <p:cNvSpPr>
            <a:spLocks noChangeShapeType="1"/>
          </p:cNvSpPr>
          <p:nvPr/>
        </p:nvSpPr>
        <p:spPr bwMode="auto">
          <a:xfrm flipH="1">
            <a:off x="56388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9" name="Text Box 23"/>
          <p:cNvSpPr txBox="1">
            <a:spLocks noChangeArrowheads="1"/>
          </p:cNvSpPr>
          <p:nvPr/>
        </p:nvSpPr>
        <p:spPr bwMode="auto">
          <a:xfrm>
            <a:off x="685800" y="449580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headNode</a:t>
            </a:r>
          </a:p>
        </p:txBody>
      </p:sp>
      <p:sp>
        <p:nvSpPr>
          <p:cNvPr id="6160" name="Line 24"/>
          <p:cNvSpPr>
            <a:spLocks noChangeShapeType="1"/>
          </p:cNvSpPr>
          <p:nvPr/>
        </p:nvSpPr>
        <p:spPr bwMode="auto">
          <a:xfrm>
            <a:off x="1722438" y="46799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1" name="Line 25"/>
          <p:cNvSpPr>
            <a:spLocks noChangeShapeType="1"/>
          </p:cNvSpPr>
          <p:nvPr/>
        </p:nvSpPr>
        <p:spPr bwMode="auto">
          <a:xfrm>
            <a:off x="1951038" y="46799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62" name="Text Box 26"/>
          <p:cNvSpPr txBox="1">
            <a:spLocks noChangeArrowheads="1"/>
          </p:cNvSpPr>
          <p:nvPr/>
        </p:nvSpPr>
        <p:spPr bwMode="auto">
          <a:xfrm>
            <a:off x="2971800" y="41910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currentNode</a:t>
            </a:r>
          </a:p>
        </p:txBody>
      </p:sp>
      <p:sp>
        <p:nvSpPr>
          <p:cNvPr id="6163" name="Text Box 27"/>
          <p:cNvSpPr txBox="1">
            <a:spLocks noChangeArrowheads="1"/>
          </p:cNvSpPr>
          <p:nvPr/>
        </p:nvSpPr>
        <p:spPr bwMode="auto">
          <a:xfrm>
            <a:off x="6157913" y="50292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6164" name="Text Box 28"/>
          <p:cNvSpPr txBox="1">
            <a:spLocks noChangeArrowheads="1"/>
          </p:cNvSpPr>
          <p:nvPr/>
        </p:nvSpPr>
        <p:spPr bwMode="auto">
          <a:xfrm>
            <a:off x="1905000" y="5530850"/>
            <a:ext cx="1617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lastcurrentNode</a:t>
            </a:r>
          </a:p>
        </p:txBody>
      </p:sp>
      <p:sp>
        <p:nvSpPr>
          <p:cNvPr id="6165" name="Line 29"/>
          <p:cNvSpPr>
            <a:spLocks noChangeShapeType="1"/>
          </p:cNvSpPr>
          <p:nvPr/>
        </p:nvSpPr>
        <p:spPr bwMode="auto">
          <a:xfrm>
            <a:off x="3505200" y="4495800"/>
            <a:ext cx="63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66" name="Line 30"/>
          <p:cNvSpPr>
            <a:spLocks noChangeShapeType="1"/>
          </p:cNvSpPr>
          <p:nvPr/>
        </p:nvSpPr>
        <p:spPr bwMode="auto">
          <a:xfrm flipV="1">
            <a:off x="2824163" y="5410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67" name="Rectangle 31"/>
          <p:cNvSpPr>
            <a:spLocks noChangeArrowheads="1"/>
          </p:cNvSpPr>
          <p:nvPr/>
        </p:nvSpPr>
        <p:spPr bwMode="auto">
          <a:xfrm>
            <a:off x="39624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Line 32"/>
          <p:cNvSpPr>
            <a:spLocks noChangeShapeType="1"/>
          </p:cNvSpPr>
          <p:nvPr/>
        </p:nvSpPr>
        <p:spPr bwMode="auto">
          <a:xfrm>
            <a:off x="42672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9" name="Text Box 33"/>
          <p:cNvSpPr txBox="1">
            <a:spLocks noChangeArrowheads="1"/>
          </p:cNvSpPr>
          <p:nvPr/>
        </p:nvSpPr>
        <p:spPr bwMode="auto">
          <a:xfrm>
            <a:off x="39624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dirty="0">
                <a:latin typeface="Helvetica" pitchFamily="34" charset="0"/>
              </a:rPr>
              <a:t>8</a:t>
            </a:r>
          </a:p>
        </p:txBody>
      </p:sp>
      <p:sp>
        <p:nvSpPr>
          <p:cNvPr id="6170" name="Line 34"/>
          <p:cNvSpPr>
            <a:spLocks noChangeShapeType="1"/>
          </p:cNvSpPr>
          <p:nvPr/>
        </p:nvSpPr>
        <p:spPr bwMode="auto">
          <a:xfrm>
            <a:off x="4343400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71" name="Freeform 35"/>
          <p:cNvSpPr>
            <a:spLocks/>
          </p:cNvSpPr>
          <p:nvPr/>
        </p:nvSpPr>
        <p:spPr bwMode="auto">
          <a:xfrm>
            <a:off x="2971800" y="4686300"/>
            <a:ext cx="1219200" cy="419100"/>
          </a:xfrm>
          <a:custGeom>
            <a:avLst/>
            <a:gdLst>
              <a:gd name="T0" fmla="*/ 0 w 768"/>
              <a:gd name="T1" fmla="*/ 264 h 264"/>
              <a:gd name="T2" fmla="*/ 144 w 768"/>
              <a:gd name="T3" fmla="*/ 72 h 264"/>
              <a:gd name="T4" fmla="*/ 624 w 768"/>
              <a:gd name="T5" fmla="*/ 24 h 264"/>
              <a:gd name="T6" fmla="*/ 768 w 768"/>
              <a:gd name="T7" fmla="*/ 216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264"/>
              <a:gd name="T14" fmla="*/ 768 w 768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264">
                <a:moveTo>
                  <a:pt x="0" y="264"/>
                </a:moveTo>
                <a:cubicBezTo>
                  <a:pt x="20" y="188"/>
                  <a:pt x="40" y="112"/>
                  <a:pt x="144" y="72"/>
                </a:cubicBezTo>
                <a:cubicBezTo>
                  <a:pt x="248" y="32"/>
                  <a:pt x="520" y="0"/>
                  <a:pt x="624" y="24"/>
                </a:cubicBezTo>
                <a:cubicBezTo>
                  <a:pt x="728" y="48"/>
                  <a:pt x="748" y="132"/>
                  <a:pt x="768" y="2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79" name="Text Box 44"/>
          <p:cNvSpPr txBox="1">
            <a:spLocks noChangeArrowheads="1"/>
          </p:cNvSpPr>
          <p:nvPr/>
        </p:nvSpPr>
        <p:spPr bwMode="auto">
          <a:xfrm>
            <a:off x="1066800" y="27432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sz="1400" dirty="0">
              <a:solidFill>
                <a:srgbClr val="800000"/>
              </a:solidFill>
              <a:latin typeface="Helvetica" pitchFamily="34" charset="0"/>
            </a:endParaRPr>
          </a:p>
        </p:txBody>
      </p:sp>
      <p:grpSp>
        <p:nvGrpSpPr>
          <p:cNvPr id="44" name="Group 40"/>
          <p:cNvGrpSpPr>
            <a:grpSpLocks/>
          </p:cNvGrpSpPr>
          <p:nvPr/>
        </p:nvGrpSpPr>
        <p:grpSpPr bwMode="auto">
          <a:xfrm>
            <a:off x="1066800" y="2438400"/>
            <a:ext cx="457200" cy="304800"/>
            <a:chOff x="4464" y="3600"/>
            <a:chExt cx="288" cy="192"/>
          </a:xfrm>
        </p:grpSpPr>
        <p:sp>
          <p:nvSpPr>
            <p:cNvPr id="45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47" name="Group 40"/>
          <p:cNvGrpSpPr>
            <a:grpSpLocks/>
          </p:cNvGrpSpPr>
          <p:nvPr/>
        </p:nvGrpSpPr>
        <p:grpSpPr bwMode="auto">
          <a:xfrm>
            <a:off x="1066800" y="2743200"/>
            <a:ext cx="457200" cy="304800"/>
            <a:chOff x="4464" y="3600"/>
            <a:chExt cx="288" cy="192"/>
          </a:xfrm>
        </p:grpSpPr>
        <p:sp>
          <p:nvSpPr>
            <p:cNvPr id="48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grpSp>
        <p:nvGrpSpPr>
          <p:cNvPr id="50" name="Group 40"/>
          <p:cNvGrpSpPr>
            <a:grpSpLocks/>
          </p:cNvGrpSpPr>
          <p:nvPr/>
        </p:nvGrpSpPr>
        <p:grpSpPr bwMode="auto">
          <a:xfrm>
            <a:off x="2209800" y="4191000"/>
            <a:ext cx="838200" cy="762000"/>
            <a:chOff x="4464" y="3600"/>
            <a:chExt cx="528" cy="480"/>
          </a:xfrm>
        </p:grpSpPr>
        <p:sp>
          <p:nvSpPr>
            <p:cNvPr id="51" name="Oval 41"/>
            <p:cNvSpPr>
              <a:spLocks noChangeArrowheads="1"/>
            </p:cNvSpPr>
            <p:nvPr/>
          </p:nvSpPr>
          <p:spPr bwMode="auto">
            <a:xfrm>
              <a:off x="4704" y="3888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52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en-US" sz="1400" dirty="0">
                <a:solidFill>
                  <a:srgbClr val="800000"/>
                </a:solidFill>
                <a:latin typeface="Helvetica" pitchFamily="34" charset="0"/>
              </a:endParaRPr>
            </a:p>
          </p:txBody>
        </p:sp>
      </p:grpSp>
      <p:grpSp>
        <p:nvGrpSpPr>
          <p:cNvPr id="53" name="Group 40"/>
          <p:cNvGrpSpPr>
            <a:grpSpLocks/>
          </p:cNvGrpSpPr>
          <p:nvPr/>
        </p:nvGrpSpPr>
        <p:grpSpPr bwMode="auto">
          <a:xfrm>
            <a:off x="3276600" y="5257800"/>
            <a:ext cx="457200" cy="304800"/>
            <a:chOff x="4464" y="3600"/>
            <a:chExt cx="288" cy="192"/>
          </a:xfrm>
        </p:grpSpPr>
        <p:sp>
          <p:nvSpPr>
            <p:cNvPr id="54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sp>
        <p:nvSpPr>
          <p:cNvPr id="56" name="Slide Number Placeholder 5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916988" cy="281940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void remove()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if(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NULL &amp;&amp;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!= </a:t>
            </a:r>
            <a:r>
              <a:rPr lang="en-US" sz="2000" b="1" dirty="0" err="1">
                <a:latin typeface="Courier New" pitchFamily="49" charset="0"/>
              </a:rPr>
              <a:t>headNode</a:t>
            </a:r>
            <a:r>
              <a:rPr lang="en-US" sz="2000" b="1" dirty="0">
                <a:latin typeface="Courier New" pitchFamily="49" charset="0"/>
              </a:rPr>
              <a:t>) 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setNext</a:t>
            </a:r>
            <a:r>
              <a:rPr lang="en-US" sz="2000" b="1" dirty="0">
                <a:latin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delete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</a:t>
            </a:r>
            <a:r>
              <a:rPr lang="en-US" sz="2000" b="1" dirty="0" err="1">
                <a:latin typeface="Courier New" pitchFamily="49" charset="0"/>
              </a:rPr>
              <a:t>currentNode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 err="1">
                <a:latin typeface="Courier New" pitchFamily="49" charset="0"/>
              </a:rPr>
              <a:t>lastCurrentNode</a:t>
            </a:r>
            <a:r>
              <a:rPr lang="en-US" sz="2000" b="1" dirty="0">
                <a:latin typeface="Courier New" pitchFamily="49" charset="0"/>
              </a:rPr>
              <a:t>-&gt;</a:t>
            </a:r>
            <a:r>
              <a:rPr lang="en-US" sz="2000" b="1" dirty="0" err="1">
                <a:latin typeface="Courier New" pitchFamily="49" charset="0"/>
              </a:rPr>
              <a:t>getNext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	 size--;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}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};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9161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22209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2297113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2601913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2906713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2601913" y="5029200"/>
            <a:ext cx="369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648200" y="5029200"/>
            <a:ext cx="685800" cy="336550"/>
            <a:chOff x="3127" y="1728"/>
            <a:chExt cx="432" cy="212"/>
          </a:xfrm>
        </p:grpSpPr>
        <p:sp>
          <p:nvSpPr>
            <p:cNvPr id="7220" name="Rectangle 11"/>
            <p:cNvSpPr>
              <a:spLocks noChangeArrowheads="1"/>
            </p:cNvSpPr>
            <p:nvPr/>
          </p:nvSpPr>
          <p:spPr bwMode="auto">
            <a:xfrm>
              <a:off x="3127" y="1748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1" name="Line 12"/>
            <p:cNvSpPr>
              <a:spLocks noChangeShapeType="1"/>
            </p:cNvSpPr>
            <p:nvPr/>
          </p:nvSpPr>
          <p:spPr bwMode="auto">
            <a:xfrm>
              <a:off x="3319" y="17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2" name="Text Box 13"/>
            <p:cNvSpPr txBox="1">
              <a:spLocks noChangeArrowheads="1"/>
            </p:cNvSpPr>
            <p:nvPr/>
          </p:nvSpPr>
          <p:spPr bwMode="auto">
            <a:xfrm>
              <a:off x="3127" y="1728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7</a:t>
              </a:r>
            </a:p>
          </p:txBody>
        </p:sp>
        <p:sp>
          <p:nvSpPr>
            <p:cNvPr id="7223" name="Line 14"/>
            <p:cNvSpPr>
              <a:spLocks noChangeShapeType="1"/>
            </p:cNvSpPr>
            <p:nvPr/>
          </p:nvSpPr>
          <p:spPr bwMode="auto">
            <a:xfrm>
              <a:off x="3367" y="184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9" name="Rectangle 15"/>
          <p:cNvSpPr>
            <a:spLocks noChangeArrowheads="1"/>
          </p:cNvSpPr>
          <p:nvPr/>
        </p:nvSpPr>
        <p:spPr bwMode="auto">
          <a:xfrm>
            <a:off x="53340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0" name="Line 16"/>
          <p:cNvSpPr>
            <a:spLocks noChangeShapeType="1"/>
          </p:cNvSpPr>
          <p:nvPr/>
        </p:nvSpPr>
        <p:spPr bwMode="auto">
          <a:xfrm>
            <a:off x="56388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1" name="Text Box 17"/>
          <p:cNvSpPr txBox="1">
            <a:spLocks noChangeArrowheads="1"/>
          </p:cNvSpPr>
          <p:nvPr/>
        </p:nvSpPr>
        <p:spPr bwMode="auto">
          <a:xfrm>
            <a:off x="53340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1</a:t>
            </a:r>
          </a:p>
        </p:txBody>
      </p:sp>
      <p:sp>
        <p:nvSpPr>
          <p:cNvPr id="7182" name="Line 18"/>
          <p:cNvSpPr>
            <a:spLocks noChangeShapeType="1"/>
          </p:cNvSpPr>
          <p:nvPr/>
        </p:nvSpPr>
        <p:spPr bwMode="auto">
          <a:xfrm flipH="1">
            <a:off x="56388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3" name="Text Box 19"/>
          <p:cNvSpPr txBox="1">
            <a:spLocks noChangeArrowheads="1"/>
          </p:cNvSpPr>
          <p:nvPr/>
        </p:nvSpPr>
        <p:spPr bwMode="auto">
          <a:xfrm>
            <a:off x="685800" y="4495800"/>
            <a:ext cx="1119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headNode</a:t>
            </a:r>
          </a:p>
        </p:txBody>
      </p:sp>
      <p:sp>
        <p:nvSpPr>
          <p:cNvPr id="7184" name="Line 20"/>
          <p:cNvSpPr>
            <a:spLocks noChangeShapeType="1"/>
          </p:cNvSpPr>
          <p:nvPr/>
        </p:nvSpPr>
        <p:spPr bwMode="auto">
          <a:xfrm>
            <a:off x="1722438" y="46799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5" name="Line 21"/>
          <p:cNvSpPr>
            <a:spLocks noChangeShapeType="1"/>
          </p:cNvSpPr>
          <p:nvPr/>
        </p:nvSpPr>
        <p:spPr bwMode="auto">
          <a:xfrm>
            <a:off x="1951038" y="46799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6" name="Text Box 22"/>
          <p:cNvSpPr txBox="1">
            <a:spLocks noChangeArrowheads="1"/>
          </p:cNvSpPr>
          <p:nvPr/>
        </p:nvSpPr>
        <p:spPr bwMode="auto">
          <a:xfrm>
            <a:off x="3803650" y="41910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currentNode</a:t>
            </a:r>
          </a:p>
        </p:txBody>
      </p:sp>
      <p:sp>
        <p:nvSpPr>
          <p:cNvPr id="7187" name="Text Box 23"/>
          <p:cNvSpPr txBox="1">
            <a:spLocks noChangeArrowheads="1"/>
          </p:cNvSpPr>
          <p:nvPr/>
        </p:nvSpPr>
        <p:spPr bwMode="auto">
          <a:xfrm>
            <a:off x="6157913" y="50292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size=4</a:t>
            </a:r>
          </a:p>
        </p:txBody>
      </p:sp>
      <p:sp>
        <p:nvSpPr>
          <p:cNvPr id="7188" name="Text Box 24"/>
          <p:cNvSpPr txBox="1">
            <a:spLocks noChangeArrowheads="1"/>
          </p:cNvSpPr>
          <p:nvPr/>
        </p:nvSpPr>
        <p:spPr bwMode="auto">
          <a:xfrm>
            <a:off x="1905000" y="5530850"/>
            <a:ext cx="1617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lastcurrentNode</a:t>
            </a:r>
          </a:p>
        </p:txBody>
      </p:sp>
      <p:sp>
        <p:nvSpPr>
          <p:cNvPr id="7189" name="Line 25"/>
          <p:cNvSpPr>
            <a:spLocks noChangeShapeType="1"/>
          </p:cNvSpPr>
          <p:nvPr/>
        </p:nvSpPr>
        <p:spPr bwMode="auto">
          <a:xfrm>
            <a:off x="4337050" y="4495800"/>
            <a:ext cx="63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90" name="Line 26"/>
          <p:cNvSpPr>
            <a:spLocks noChangeShapeType="1"/>
          </p:cNvSpPr>
          <p:nvPr/>
        </p:nvSpPr>
        <p:spPr bwMode="auto">
          <a:xfrm flipV="1">
            <a:off x="2824163" y="5410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91" name="Rectangle 27"/>
          <p:cNvSpPr>
            <a:spLocks noChangeArrowheads="1"/>
          </p:cNvSpPr>
          <p:nvPr/>
        </p:nvSpPr>
        <p:spPr bwMode="auto">
          <a:xfrm>
            <a:off x="3962400" y="50609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2" name="Line 28"/>
          <p:cNvSpPr>
            <a:spLocks noChangeShapeType="1"/>
          </p:cNvSpPr>
          <p:nvPr/>
        </p:nvSpPr>
        <p:spPr bwMode="auto">
          <a:xfrm>
            <a:off x="4267200" y="5060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3" name="Text Box 29"/>
          <p:cNvSpPr txBox="1">
            <a:spLocks noChangeArrowheads="1"/>
          </p:cNvSpPr>
          <p:nvPr/>
        </p:nvSpPr>
        <p:spPr bwMode="auto">
          <a:xfrm>
            <a:off x="3962400" y="502920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7194" name="Line 30"/>
          <p:cNvSpPr>
            <a:spLocks noChangeShapeType="1"/>
          </p:cNvSpPr>
          <p:nvPr/>
        </p:nvSpPr>
        <p:spPr bwMode="auto">
          <a:xfrm>
            <a:off x="4343400" y="5213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95" name="Freeform 31"/>
          <p:cNvSpPr>
            <a:spLocks/>
          </p:cNvSpPr>
          <p:nvPr/>
        </p:nvSpPr>
        <p:spPr bwMode="auto">
          <a:xfrm>
            <a:off x="2971800" y="4686300"/>
            <a:ext cx="1219200" cy="419100"/>
          </a:xfrm>
          <a:custGeom>
            <a:avLst/>
            <a:gdLst>
              <a:gd name="T0" fmla="*/ 0 w 768"/>
              <a:gd name="T1" fmla="*/ 264 h 264"/>
              <a:gd name="T2" fmla="*/ 144 w 768"/>
              <a:gd name="T3" fmla="*/ 72 h 264"/>
              <a:gd name="T4" fmla="*/ 624 w 768"/>
              <a:gd name="T5" fmla="*/ 24 h 264"/>
              <a:gd name="T6" fmla="*/ 768 w 768"/>
              <a:gd name="T7" fmla="*/ 216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264"/>
              <a:gd name="T14" fmla="*/ 768 w 768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264">
                <a:moveTo>
                  <a:pt x="0" y="264"/>
                </a:moveTo>
                <a:cubicBezTo>
                  <a:pt x="20" y="188"/>
                  <a:pt x="40" y="112"/>
                  <a:pt x="144" y="72"/>
                </a:cubicBezTo>
                <a:cubicBezTo>
                  <a:pt x="248" y="32"/>
                  <a:pt x="520" y="0"/>
                  <a:pt x="624" y="24"/>
                </a:cubicBezTo>
                <a:cubicBezTo>
                  <a:pt x="728" y="48"/>
                  <a:pt x="748" y="132"/>
                  <a:pt x="768" y="2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205" name="Text Box 58"/>
          <p:cNvSpPr txBox="1">
            <a:spLocks noChangeArrowheads="1"/>
          </p:cNvSpPr>
          <p:nvPr/>
        </p:nvSpPr>
        <p:spPr bwMode="auto">
          <a:xfrm>
            <a:off x="1066800" y="3352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sz="1400" dirty="0">
              <a:solidFill>
                <a:srgbClr val="800000"/>
              </a:solidFill>
              <a:latin typeface="Helvetica" pitchFamily="34" charset="0"/>
            </a:endParaRPr>
          </a:p>
        </p:txBody>
      </p:sp>
      <p:grpSp>
        <p:nvGrpSpPr>
          <p:cNvPr id="56" name="Group 40"/>
          <p:cNvGrpSpPr>
            <a:grpSpLocks/>
          </p:cNvGrpSpPr>
          <p:nvPr/>
        </p:nvGrpSpPr>
        <p:grpSpPr bwMode="auto">
          <a:xfrm>
            <a:off x="1066800" y="2438400"/>
            <a:ext cx="457200" cy="304800"/>
            <a:chOff x="4464" y="3600"/>
            <a:chExt cx="288" cy="192"/>
          </a:xfrm>
        </p:grpSpPr>
        <p:sp>
          <p:nvSpPr>
            <p:cNvPr id="57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59" name="Group 40"/>
          <p:cNvGrpSpPr>
            <a:grpSpLocks/>
          </p:cNvGrpSpPr>
          <p:nvPr/>
        </p:nvGrpSpPr>
        <p:grpSpPr bwMode="auto">
          <a:xfrm>
            <a:off x="1066800" y="2743200"/>
            <a:ext cx="457200" cy="304800"/>
            <a:chOff x="4464" y="3600"/>
            <a:chExt cx="288" cy="192"/>
          </a:xfrm>
        </p:grpSpPr>
        <p:sp>
          <p:nvSpPr>
            <p:cNvPr id="60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grpSp>
        <p:nvGrpSpPr>
          <p:cNvPr id="62" name="Group 40"/>
          <p:cNvGrpSpPr>
            <a:grpSpLocks/>
          </p:cNvGrpSpPr>
          <p:nvPr/>
        </p:nvGrpSpPr>
        <p:grpSpPr bwMode="auto">
          <a:xfrm>
            <a:off x="1066800" y="3048000"/>
            <a:ext cx="457200" cy="304800"/>
            <a:chOff x="4464" y="3600"/>
            <a:chExt cx="288" cy="192"/>
          </a:xfrm>
        </p:grpSpPr>
        <p:sp>
          <p:nvSpPr>
            <p:cNvPr id="63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3</a:t>
              </a:r>
            </a:p>
          </p:txBody>
        </p:sp>
      </p:grpSp>
      <p:grpSp>
        <p:nvGrpSpPr>
          <p:cNvPr id="65" name="Group 40"/>
          <p:cNvGrpSpPr>
            <a:grpSpLocks/>
          </p:cNvGrpSpPr>
          <p:nvPr/>
        </p:nvGrpSpPr>
        <p:grpSpPr bwMode="auto">
          <a:xfrm>
            <a:off x="1066800" y="3352800"/>
            <a:ext cx="457200" cy="304800"/>
            <a:chOff x="4464" y="3600"/>
            <a:chExt cx="288" cy="192"/>
          </a:xfrm>
        </p:grpSpPr>
        <p:sp>
          <p:nvSpPr>
            <p:cNvPr id="66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4</a:t>
              </a:r>
            </a:p>
          </p:txBody>
        </p:sp>
      </p:grpSp>
      <p:grpSp>
        <p:nvGrpSpPr>
          <p:cNvPr id="68" name="Group 40"/>
          <p:cNvGrpSpPr>
            <a:grpSpLocks/>
          </p:cNvGrpSpPr>
          <p:nvPr/>
        </p:nvGrpSpPr>
        <p:grpSpPr bwMode="auto">
          <a:xfrm>
            <a:off x="2590800" y="4648200"/>
            <a:ext cx="457200" cy="304800"/>
            <a:chOff x="4464" y="3600"/>
            <a:chExt cx="288" cy="192"/>
          </a:xfrm>
        </p:grpSpPr>
        <p:sp>
          <p:nvSpPr>
            <p:cNvPr id="69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73" name="Group 40"/>
          <p:cNvGrpSpPr>
            <a:grpSpLocks/>
          </p:cNvGrpSpPr>
          <p:nvPr/>
        </p:nvGrpSpPr>
        <p:grpSpPr bwMode="auto">
          <a:xfrm>
            <a:off x="3276600" y="5257800"/>
            <a:ext cx="457200" cy="304800"/>
            <a:chOff x="4464" y="3600"/>
            <a:chExt cx="288" cy="192"/>
          </a:xfrm>
        </p:grpSpPr>
        <p:sp>
          <p:nvSpPr>
            <p:cNvPr id="74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grpSp>
        <p:nvGrpSpPr>
          <p:cNvPr id="76" name="Group 40"/>
          <p:cNvGrpSpPr>
            <a:grpSpLocks/>
          </p:cNvGrpSpPr>
          <p:nvPr/>
        </p:nvGrpSpPr>
        <p:grpSpPr bwMode="auto">
          <a:xfrm>
            <a:off x="4191000" y="3886200"/>
            <a:ext cx="457200" cy="304800"/>
            <a:chOff x="4464" y="3600"/>
            <a:chExt cx="288" cy="192"/>
          </a:xfrm>
        </p:grpSpPr>
        <p:sp>
          <p:nvSpPr>
            <p:cNvPr id="77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3</a:t>
              </a:r>
            </a:p>
          </p:txBody>
        </p:sp>
      </p:grpSp>
      <p:grpSp>
        <p:nvGrpSpPr>
          <p:cNvPr id="80" name="Group 40"/>
          <p:cNvGrpSpPr>
            <a:grpSpLocks/>
          </p:cNvGrpSpPr>
          <p:nvPr/>
        </p:nvGrpSpPr>
        <p:grpSpPr bwMode="auto">
          <a:xfrm>
            <a:off x="6324600" y="4724400"/>
            <a:ext cx="457200" cy="304800"/>
            <a:chOff x="4464" y="3600"/>
            <a:chExt cx="288" cy="192"/>
          </a:xfrm>
        </p:grpSpPr>
        <p:sp>
          <p:nvSpPr>
            <p:cNvPr id="81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4</a:t>
              </a:r>
            </a:p>
          </p:txBody>
        </p:sp>
      </p:grpSp>
      <p:sp>
        <p:nvSpPr>
          <p:cNvPr id="71" name="Slide Number Placeholder 7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8125" t="20833" r="42969" b="8333"/>
          <a:stretch>
            <a:fillRect/>
          </a:stretch>
        </p:blipFill>
        <p:spPr bwMode="auto">
          <a:xfrm>
            <a:off x="1600200" y="228600"/>
            <a:ext cx="57912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C++ Code for Linked List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int length()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{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return size;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};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private: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int size;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Node *headNode;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latin typeface="Courier New" pitchFamily="49" charset="0"/>
              </a:rPr>
              <a:t>	Node *currentNode, *lastCurrentNode;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b="1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Example of List Usage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954587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#include &lt;iostream&gt;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#include &lt;stdlib.h&gt;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#include "List.cpp"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int main(int argc, char *argv[])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List list;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list.add(5); list.add(13); list.add(4);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list.add(8); list.add(24); list.add(48); list.add(12);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list.start();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while (list.next()) 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		cout &lt;&lt; "List Element: "&lt;&lt; list.get()&lt;&lt;endl;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>
                <a:latin typeface="Courier New" pitchFamily="49" charset="0"/>
              </a:rPr>
              <a:t>}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b="1">
              <a:latin typeface="Courier New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80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Analysis of Linked List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57200" y="1600200"/>
            <a:ext cx="822642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add</a:t>
            </a:r>
          </a:p>
          <a:p>
            <a:pPr marL="914400" lvl="1" indent="-457200">
              <a:buClr>
                <a:schemeClr val="bg1"/>
              </a:buClr>
              <a:buFontTx/>
              <a:buChar char="•"/>
            </a:pPr>
            <a:r>
              <a:rPr lang="en-US" sz="2400">
                <a:latin typeface="Helvetica" pitchFamily="34" charset="0"/>
              </a:rPr>
              <a:t>we simply insert the new node after the current node. So add is a one-step operation.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remove</a:t>
            </a:r>
          </a:p>
          <a:p>
            <a:pPr marL="914400" lvl="1" indent="-4572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>
                <a:latin typeface="Helvetica" pitchFamily="34" charset="0"/>
              </a:rPr>
              <a:t>remove is also a one-step operation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find</a:t>
            </a:r>
          </a:p>
          <a:p>
            <a:pPr marL="914400" lvl="1" indent="-4572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>
                <a:latin typeface="Helvetica" pitchFamily="34" charset="0"/>
              </a:rPr>
              <a:t>worst-case: may have to search the entire list</a:t>
            </a:r>
          </a:p>
          <a:p>
            <a:pPr marL="533400" indent="-533400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400">
                <a:latin typeface="Helvetica" pitchFamily="34" charset="0"/>
              </a:rPr>
              <a:t>back</a:t>
            </a:r>
          </a:p>
          <a:p>
            <a:pPr marL="914400" lvl="1" indent="-4572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>
                <a:latin typeface="Helvetica" pitchFamily="34" charset="0"/>
              </a:rPr>
              <a:t>moving the current pointer back one node requires traversing the list from the start until the node whose next pointer points to current node.</a:t>
            </a:r>
            <a:endParaRPr lang="en-US" sz="2800">
              <a:latin typeface="Helvetica" pitchFamily="34" charset="0"/>
            </a:endParaRPr>
          </a:p>
          <a:p>
            <a:pPr marL="533400" indent="-533400"/>
            <a:endParaRPr lang="en-US" sz="2800">
              <a:latin typeface="Helvetica" pitchFamily="34" charset="0"/>
            </a:endParaRPr>
          </a:p>
          <a:p>
            <a:pPr marL="533400" indent="-533400">
              <a:buFont typeface="Wingdings" pitchFamily="2" charset="2"/>
              <a:buChar char="§"/>
            </a:pPr>
            <a:endParaRPr lang="en-US" sz="280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34" charset="0"/>
              </a:rPr>
              <a:t>Two-Way or Doubly-linked List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35814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800" dirty="0">
                <a:latin typeface="Helvetica" pitchFamily="34" charset="0"/>
              </a:rPr>
              <a:t>Moving forward in a singly-linked list is easy; moving backwards is not so easy.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800" dirty="0">
                <a:latin typeface="Helvetica" pitchFamily="34" charset="0"/>
              </a:rPr>
              <a:t>To move back one node, we have to start at the head of the singly-linked list and move forward until the node before the current.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800" dirty="0">
                <a:latin typeface="Helvetica" pitchFamily="34" charset="0"/>
              </a:rPr>
              <a:t>To avoid this we can use </a:t>
            </a:r>
            <a:r>
              <a:rPr lang="en-US" sz="2800" i="1" dirty="0">
                <a:latin typeface="Helvetica" pitchFamily="34" charset="0"/>
              </a:rPr>
              <a:t>two</a:t>
            </a:r>
            <a:r>
              <a:rPr lang="en-US" sz="2800" dirty="0">
                <a:latin typeface="Helvetica" pitchFamily="34" charset="0"/>
              </a:rPr>
              <a:t> pointers in a node: one to point to next node and another to point to the previous node: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800" dirty="0">
              <a:latin typeface="Helvetica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4600" y="5257800"/>
            <a:ext cx="2895600" cy="685800"/>
            <a:chOff x="1584" y="2976"/>
            <a:chExt cx="1824" cy="432"/>
          </a:xfrm>
        </p:grpSpPr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1584" y="2976"/>
              <a:ext cx="1824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4" name="Line 6"/>
            <p:cNvSpPr>
              <a:spLocks noChangeShapeType="1"/>
            </p:cNvSpPr>
            <p:nvPr/>
          </p:nvSpPr>
          <p:spPr bwMode="auto">
            <a:xfrm>
              <a:off x="288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2147" y="3062"/>
              <a:ext cx="8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>
                  <a:latin typeface="Helvetica" pitchFamily="34" charset="0"/>
                </a:rPr>
                <a:t>element</a:t>
              </a:r>
            </a:p>
          </p:txBody>
        </p:sp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2880" y="3062"/>
              <a:ext cx="4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>
                  <a:latin typeface="Helvetica" pitchFamily="34" charset="0"/>
                </a:rPr>
                <a:t>next</a:t>
              </a:r>
            </a:p>
          </p:txBody>
        </p:sp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1632" y="3062"/>
              <a:ext cx="42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>
                  <a:latin typeface="Helvetica" pitchFamily="34" charset="0"/>
                </a:rPr>
                <a:t>prev</a:t>
              </a:r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>
              <a:off x="2064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34" charset="0"/>
              </a:rPr>
              <a:t>Doubly-Linked List 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class Node {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public: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get() { return object; };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void set(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object) { this-&gt;object = object; };</a:t>
            </a:r>
          </a:p>
          <a:p>
            <a:pPr marL="533400" indent="-533400">
              <a:lnSpc>
                <a:spcPct val="80000"/>
              </a:lnSpc>
              <a:buNone/>
            </a:pPr>
            <a:endParaRPr lang="en-US" b="1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Node* </a:t>
            </a:r>
            <a:r>
              <a:rPr lang="en-US" b="1" dirty="0" err="1">
                <a:latin typeface="Courier New" pitchFamily="49" charset="0"/>
              </a:rPr>
              <a:t>getNext</a:t>
            </a:r>
            <a:r>
              <a:rPr lang="en-US" b="1" dirty="0">
                <a:latin typeface="Courier New" pitchFamily="49" charset="0"/>
              </a:rPr>
              <a:t>() { return </a:t>
            </a:r>
            <a:r>
              <a:rPr lang="en-US" b="1" dirty="0" err="1">
                <a:latin typeface="Courier New" pitchFamily="49" charset="0"/>
              </a:rPr>
              <a:t>nextNode</a:t>
            </a:r>
            <a:r>
              <a:rPr lang="en-US" b="1" dirty="0">
                <a:latin typeface="Courier New" pitchFamily="49" charset="0"/>
              </a:rPr>
              <a:t>; };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void </a:t>
            </a:r>
            <a:r>
              <a:rPr lang="en-US" b="1" dirty="0" err="1">
                <a:latin typeface="Courier New" pitchFamily="49" charset="0"/>
              </a:rPr>
              <a:t>setNext</a:t>
            </a:r>
            <a:r>
              <a:rPr lang="en-US" b="1" dirty="0">
                <a:latin typeface="Courier New" pitchFamily="49" charset="0"/>
              </a:rPr>
              <a:t>(Node* </a:t>
            </a:r>
            <a:r>
              <a:rPr lang="en-US" b="1" dirty="0" err="1">
                <a:latin typeface="Courier New" pitchFamily="49" charset="0"/>
              </a:rPr>
              <a:t>nextNode</a:t>
            </a:r>
            <a:r>
              <a:rPr lang="en-US" b="1" dirty="0">
                <a:latin typeface="Courier New" pitchFamily="49" charset="0"/>
              </a:rPr>
              <a:t>) 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          { this-&gt;</a:t>
            </a:r>
            <a:r>
              <a:rPr lang="en-US" b="1" dirty="0" err="1">
                <a:latin typeface="Courier New" pitchFamily="49" charset="0"/>
              </a:rPr>
              <a:t>nextNode</a:t>
            </a:r>
            <a:r>
              <a:rPr lang="en-US" b="1" dirty="0">
                <a:latin typeface="Courier New" pitchFamily="49" charset="0"/>
              </a:rPr>
              <a:t> = </a:t>
            </a:r>
            <a:r>
              <a:rPr lang="en-US" b="1" dirty="0" err="1">
                <a:latin typeface="Courier New" pitchFamily="49" charset="0"/>
              </a:rPr>
              <a:t>nextNode</a:t>
            </a:r>
            <a:r>
              <a:rPr lang="en-US" b="1" dirty="0">
                <a:latin typeface="Courier New" pitchFamily="49" charset="0"/>
              </a:rPr>
              <a:t>; };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Node*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getPrev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() { return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prevNode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; };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	void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setPrev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(Node*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prevNode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) 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          { this-&gt;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prevNode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 =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prevNode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; };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private: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object;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Node* </a:t>
            </a:r>
            <a:r>
              <a:rPr lang="en-US" b="1" dirty="0" err="1">
                <a:latin typeface="Courier New" pitchFamily="49" charset="0"/>
              </a:rPr>
              <a:t>nextNode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Node*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prevNode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 marL="533400" indent="-533400">
              <a:lnSpc>
                <a:spcPct val="80000"/>
              </a:lnSpc>
              <a:buNone/>
            </a:pPr>
            <a:endParaRPr lang="en-US" b="1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None/>
            </a:pPr>
            <a:r>
              <a:rPr lang="en-US" b="1" dirty="0">
                <a:latin typeface="Courier New" pitchFamily="49" charset="0"/>
              </a:rPr>
              <a:t>};	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Char char="§"/>
            </a:pPr>
            <a:endParaRPr lang="en-US" sz="7200" b="1" dirty="0"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Doubly-linked List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2439987"/>
          </a:xfrm>
        </p:spPr>
        <p:txBody>
          <a:bodyPr/>
          <a:lstStyle/>
          <a:p>
            <a:pPr marL="533400" indent="-533400" eaLnBrk="1" hangingPunct="1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Need to be more careful when adding or removing a node.</a:t>
            </a:r>
          </a:p>
          <a:p>
            <a:pPr marL="533400" indent="-533400" eaLnBrk="1" hangingPunct="1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Consider add: the order in which pointers are reorganized is important: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6919913" y="45085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1597025" y="45402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7"/>
          <p:cNvSpPr>
            <a:spLocks noChangeShapeType="1"/>
          </p:cNvSpPr>
          <p:nvPr/>
        </p:nvSpPr>
        <p:spPr bwMode="auto">
          <a:xfrm>
            <a:off x="20542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3" name="Line 8"/>
          <p:cNvSpPr>
            <a:spLocks noChangeShapeType="1"/>
          </p:cNvSpPr>
          <p:nvPr/>
        </p:nvSpPr>
        <p:spPr bwMode="auto">
          <a:xfrm>
            <a:off x="2130425" y="4616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Line 9"/>
          <p:cNvSpPr>
            <a:spLocks noChangeShapeType="1"/>
          </p:cNvSpPr>
          <p:nvPr/>
        </p:nvSpPr>
        <p:spPr bwMode="auto">
          <a:xfrm>
            <a:off x="17494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5" name="Rectangle 10"/>
          <p:cNvSpPr>
            <a:spLocks noChangeArrowheads="1"/>
          </p:cNvSpPr>
          <p:nvPr/>
        </p:nvSpPr>
        <p:spPr bwMode="auto">
          <a:xfrm>
            <a:off x="2435225" y="45402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Line 11"/>
          <p:cNvSpPr>
            <a:spLocks noChangeShapeType="1"/>
          </p:cNvSpPr>
          <p:nvPr/>
        </p:nvSpPr>
        <p:spPr bwMode="auto">
          <a:xfrm>
            <a:off x="28924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Line 12"/>
          <p:cNvSpPr>
            <a:spLocks noChangeShapeType="1"/>
          </p:cNvSpPr>
          <p:nvPr/>
        </p:nvSpPr>
        <p:spPr bwMode="auto">
          <a:xfrm>
            <a:off x="2968625" y="4616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68" name="Line 13"/>
          <p:cNvSpPr>
            <a:spLocks noChangeShapeType="1"/>
          </p:cNvSpPr>
          <p:nvPr/>
        </p:nvSpPr>
        <p:spPr bwMode="auto">
          <a:xfrm>
            <a:off x="25876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9" name="Rectangle 14"/>
          <p:cNvSpPr>
            <a:spLocks noChangeArrowheads="1"/>
          </p:cNvSpPr>
          <p:nvPr/>
        </p:nvSpPr>
        <p:spPr bwMode="auto">
          <a:xfrm>
            <a:off x="3273425" y="45402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5"/>
          <p:cNvSpPr>
            <a:spLocks noChangeShapeType="1"/>
          </p:cNvSpPr>
          <p:nvPr/>
        </p:nvSpPr>
        <p:spPr bwMode="auto">
          <a:xfrm>
            <a:off x="37306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1" name="Line 16"/>
          <p:cNvSpPr>
            <a:spLocks noChangeShapeType="1"/>
          </p:cNvSpPr>
          <p:nvPr/>
        </p:nvSpPr>
        <p:spPr bwMode="auto">
          <a:xfrm>
            <a:off x="3806825" y="4616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72" name="Line 17"/>
          <p:cNvSpPr>
            <a:spLocks noChangeShapeType="1"/>
          </p:cNvSpPr>
          <p:nvPr/>
        </p:nvSpPr>
        <p:spPr bwMode="auto">
          <a:xfrm>
            <a:off x="34258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Rectangle 18"/>
          <p:cNvSpPr>
            <a:spLocks noChangeArrowheads="1"/>
          </p:cNvSpPr>
          <p:nvPr/>
        </p:nvSpPr>
        <p:spPr bwMode="auto">
          <a:xfrm>
            <a:off x="4111625" y="45402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Line 19"/>
          <p:cNvSpPr>
            <a:spLocks noChangeShapeType="1"/>
          </p:cNvSpPr>
          <p:nvPr/>
        </p:nvSpPr>
        <p:spPr bwMode="auto">
          <a:xfrm>
            <a:off x="45688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5" name="Line 20"/>
          <p:cNvSpPr>
            <a:spLocks noChangeShapeType="1"/>
          </p:cNvSpPr>
          <p:nvPr/>
        </p:nvSpPr>
        <p:spPr bwMode="auto">
          <a:xfrm>
            <a:off x="4645025" y="4616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Line 21"/>
          <p:cNvSpPr>
            <a:spLocks noChangeShapeType="1"/>
          </p:cNvSpPr>
          <p:nvPr/>
        </p:nvSpPr>
        <p:spPr bwMode="auto">
          <a:xfrm>
            <a:off x="42640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7" name="Rectangle 22"/>
          <p:cNvSpPr>
            <a:spLocks noChangeArrowheads="1"/>
          </p:cNvSpPr>
          <p:nvPr/>
        </p:nvSpPr>
        <p:spPr bwMode="auto">
          <a:xfrm>
            <a:off x="4949825" y="45402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23"/>
          <p:cNvSpPr>
            <a:spLocks noChangeShapeType="1"/>
          </p:cNvSpPr>
          <p:nvPr/>
        </p:nvSpPr>
        <p:spPr bwMode="auto">
          <a:xfrm>
            <a:off x="54070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9" name="Line 24"/>
          <p:cNvSpPr>
            <a:spLocks noChangeShapeType="1"/>
          </p:cNvSpPr>
          <p:nvPr/>
        </p:nvSpPr>
        <p:spPr bwMode="auto">
          <a:xfrm>
            <a:off x="5483225" y="4616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Line 25"/>
          <p:cNvSpPr>
            <a:spLocks noChangeShapeType="1"/>
          </p:cNvSpPr>
          <p:nvPr/>
        </p:nvSpPr>
        <p:spPr bwMode="auto">
          <a:xfrm>
            <a:off x="51022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1" name="Rectangle 26"/>
          <p:cNvSpPr>
            <a:spLocks noChangeArrowheads="1"/>
          </p:cNvSpPr>
          <p:nvPr/>
        </p:nvSpPr>
        <p:spPr bwMode="auto">
          <a:xfrm>
            <a:off x="5788025" y="45402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2" name="Line 27"/>
          <p:cNvSpPr>
            <a:spLocks noChangeShapeType="1"/>
          </p:cNvSpPr>
          <p:nvPr/>
        </p:nvSpPr>
        <p:spPr bwMode="auto">
          <a:xfrm>
            <a:off x="62452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3" name="Line 28"/>
          <p:cNvSpPr>
            <a:spLocks noChangeShapeType="1"/>
          </p:cNvSpPr>
          <p:nvPr/>
        </p:nvSpPr>
        <p:spPr bwMode="auto">
          <a:xfrm>
            <a:off x="5940425" y="454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4" name="Text Box 29"/>
          <p:cNvSpPr txBox="1">
            <a:spLocks noChangeArrowheads="1"/>
          </p:cNvSpPr>
          <p:nvPr/>
        </p:nvSpPr>
        <p:spPr bwMode="auto">
          <a:xfrm>
            <a:off x="2566988" y="45402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sp>
        <p:nvSpPr>
          <p:cNvPr id="19485" name="Text Box 30"/>
          <p:cNvSpPr txBox="1">
            <a:spLocks noChangeArrowheads="1"/>
          </p:cNvSpPr>
          <p:nvPr/>
        </p:nvSpPr>
        <p:spPr bwMode="auto">
          <a:xfrm>
            <a:off x="3405188" y="45402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19486" name="Text Box 31"/>
          <p:cNvSpPr txBox="1">
            <a:spLocks noChangeArrowheads="1"/>
          </p:cNvSpPr>
          <p:nvPr/>
        </p:nvSpPr>
        <p:spPr bwMode="auto">
          <a:xfrm>
            <a:off x="4264025" y="45402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19487" name="Text Box 32"/>
          <p:cNvSpPr txBox="1">
            <a:spLocks noChangeArrowheads="1"/>
          </p:cNvSpPr>
          <p:nvPr/>
        </p:nvSpPr>
        <p:spPr bwMode="auto">
          <a:xfrm>
            <a:off x="5102225" y="4540250"/>
            <a:ext cx="32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7</a:t>
            </a:r>
          </a:p>
        </p:txBody>
      </p:sp>
      <p:sp>
        <p:nvSpPr>
          <p:cNvPr id="19488" name="Text Box 33"/>
          <p:cNvSpPr txBox="1">
            <a:spLocks noChangeArrowheads="1"/>
          </p:cNvSpPr>
          <p:nvPr/>
        </p:nvSpPr>
        <p:spPr bwMode="auto">
          <a:xfrm>
            <a:off x="5940425" y="4540250"/>
            <a:ext cx="249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1</a:t>
            </a:r>
          </a:p>
        </p:txBody>
      </p:sp>
      <p:sp>
        <p:nvSpPr>
          <p:cNvPr id="19489" name="Line 34"/>
          <p:cNvSpPr>
            <a:spLocks noChangeShapeType="1"/>
          </p:cNvSpPr>
          <p:nvPr/>
        </p:nvSpPr>
        <p:spPr bwMode="auto">
          <a:xfrm rot="409544" flipH="1">
            <a:off x="1597025" y="454025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747713" y="4508500"/>
            <a:ext cx="849312" cy="336550"/>
            <a:chOff x="809" y="2380"/>
            <a:chExt cx="535" cy="212"/>
          </a:xfrm>
        </p:grpSpPr>
        <p:sp>
          <p:nvSpPr>
            <p:cNvPr id="19499" name="Text Box 36"/>
            <p:cNvSpPr txBox="1">
              <a:spLocks noChangeArrowheads="1"/>
            </p:cNvSpPr>
            <p:nvPr/>
          </p:nvSpPr>
          <p:spPr bwMode="auto">
            <a:xfrm>
              <a:off x="809" y="2380"/>
              <a:ext cx="40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head</a:t>
              </a:r>
            </a:p>
          </p:txBody>
        </p:sp>
        <p:sp>
          <p:nvSpPr>
            <p:cNvPr id="19500" name="Line 37"/>
            <p:cNvSpPr>
              <a:spLocks noChangeShapeType="1"/>
            </p:cNvSpPr>
            <p:nvPr/>
          </p:nvSpPr>
          <p:spPr bwMode="auto">
            <a:xfrm>
              <a:off x="1200" y="24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91" name="Text Box 38"/>
          <p:cNvSpPr txBox="1">
            <a:spLocks noChangeArrowheads="1"/>
          </p:cNvSpPr>
          <p:nvPr/>
        </p:nvSpPr>
        <p:spPr bwMode="auto">
          <a:xfrm>
            <a:off x="3200400" y="5302250"/>
            <a:ext cx="8175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</a:t>
            </a:r>
          </a:p>
        </p:txBody>
      </p:sp>
      <p:sp>
        <p:nvSpPr>
          <p:cNvPr id="19492" name="Line 39"/>
          <p:cNvSpPr>
            <a:spLocks noChangeShapeType="1"/>
          </p:cNvSpPr>
          <p:nvPr/>
        </p:nvSpPr>
        <p:spPr bwMode="auto">
          <a:xfrm flipV="1">
            <a:off x="3578225" y="49212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93" name="Line 40"/>
          <p:cNvSpPr>
            <a:spLocks noChangeShapeType="1"/>
          </p:cNvSpPr>
          <p:nvPr/>
        </p:nvSpPr>
        <p:spPr bwMode="auto">
          <a:xfrm flipH="1">
            <a:off x="2206625" y="4768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94" name="Line 41"/>
          <p:cNvSpPr>
            <a:spLocks noChangeShapeType="1"/>
          </p:cNvSpPr>
          <p:nvPr/>
        </p:nvSpPr>
        <p:spPr bwMode="auto">
          <a:xfrm flipH="1">
            <a:off x="3044825" y="4768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95" name="Line 42"/>
          <p:cNvSpPr>
            <a:spLocks noChangeShapeType="1"/>
          </p:cNvSpPr>
          <p:nvPr/>
        </p:nvSpPr>
        <p:spPr bwMode="auto">
          <a:xfrm flipH="1">
            <a:off x="3883025" y="4768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96" name="Line 43"/>
          <p:cNvSpPr>
            <a:spLocks noChangeShapeType="1"/>
          </p:cNvSpPr>
          <p:nvPr/>
        </p:nvSpPr>
        <p:spPr bwMode="auto">
          <a:xfrm flipH="1">
            <a:off x="4721225" y="4768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97" name="Line 44"/>
          <p:cNvSpPr>
            <a:spLocks noChangeShapeType="1"/>
          </p:cNvSpPr>
          <p:nvPr/>
        </p:nvSpPr>
        <p:spPr bwMode="auto">
          <a:xfrm flipH="1">
            <a:off x="5559425" y="4768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498" name="Line 45"/>
          <p:cNvSpPr>
            <a:spLocks noChangeShapeType="1"/>
          </p:cNvSpPr>
          <p:nvPr/>
        </p:nvSpPr>
        <p:spPr bwMode="auto">
          <a:xfrm rot="409544" flipH="1">
            <a:off x="6245225" y="454025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19200"/>
            <a:ext cx="8385737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"/>
            <a:ext cx="86868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Helvetica" pitchFamily="34" charset="0"/>
              </a:rPr>
              <a:t>Insertion in Doubly-linked List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1144587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newNode-&gt;setNext( current-&gt;getNext()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>
              <a:latin typeface="Courier New" pitchFamily="49" charset="0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072313" y="35179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7494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2206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22828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1901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5876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3044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31210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2740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34258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>
            <a:off x="3883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3578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42640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4721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47974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499" name="Line 19"/>
          <p:cNvSpPr>
            <a:spLocks noChangeShapeType="1"/>
          </p:cNvSpPr>
          <p:nvPr/>
        </p:nvSpPr>
        <p:spPr bwMode="auto">
          <a:xfrm>
            <a:off x="4416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0" name="Rectangle 20"/>
          <p:cNvSpPr>
            <a:spLocks noChangeArrowheads="1"/>
          </p:cNvSpPr>
          <p:nvPr/>
        </p:nvSpPr>
        <p:spPr bwMode="auto">
          <a:xfrm>
            <a:off x="51022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1" name="Line 21"/>
          <p:cNvSpPr>
            <a:spLocks noChangeShapeType="1"/>
          </p:cNvSpPr>
          <p:nvPr/>
        </p:nvSpPr>
        <p:spPr bwMode="auto">
          <a:xfrm>
            <a:off x="5559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2" name="Line 22"/>
          <p:cNvSpPr>
            <a:spLocks noChangeShapeType="1"/>
          </p:cNvSpPr>
          <p:nvPr/>
        </p:nvSpPr>
        <p:spPr bwMode="auto">
          <a:xfrm>
            <a:off x="56356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>
            <a:off x="5254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>
            <a:off x="2719388" y="35496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3557588" y="3549650"/>
            <a:ext cx="3286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20506" name="Text Box 26"/>
          <p:cNvSpPr txBox="1">
            <a:spLocks noChangeArrowheads="1"/>
          </p:cNvSpPr>
          <p:nvPr/>
        </p:nvSpPr>
        <p:spPr bwMode="auto">
          <a:xfrm>
            <a:off x="4416425" y="35496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20507" name="Text Box 27"/>
          <p:cNvSpPr txBox="1">
            <a:spLocks noChangeArrowheads="1"/>
          </p:cNvSpPr>
          <p:nvPr/>
        </p:nvSpPr>
        <p:spPr bwMode="auto">
          <a:xfrm>
            <a:off x="5254625" y="3549650"/>
            <a:ext cx="32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7</a:t>
            </a:r>
          </a:p>
        </p:txBody>
      </p:sp>
      <p:sp>
        <p:nvSpPr>
          <p:cNvPr id="20508" name="Line 28"/>
          <p:cNvSpPr>
            <a:spLocks noChangeShapeType="1"/>
          </p:cNvSpPr>
          <p:nvPr/>
        </p:nvSpPr>
        <p:spPr bwMode="auto">
          <a:xfrm rot="409544" flipH="1">
            <a:off x="1749425" y="354965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900113" y="3517900"/>
            <a:ext cx="849312" cy="336550"/>
            <a:chOff x="809" y="2380"/>
            <a:chExt cx="535" cy="212"/>
          </a:xfrm>
        </p:grpSpPr>
        <p:sp>
          <p:nvSpPr>
            <p:cNvPr id="20534" name="Text Box 30"/>
            <p:cNvSpPr txBox="1">
              <a:spLocks noChangeArrowheads="1"/>
            </p:cNvSpPr>
            <p:nvPr/>
          </p:nvSpPr>
          <p:spPr bwMode="auto">
            <a:xfrm>
              <a:off x="809" y="2380"/>
              <a:ext cx="40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head</a:t>
              </a:r>
            </a:p>
          </p:txBody>
        </p:sp>
        <p:sp>
          <p:nvSpPr>
            <p:cNvPr id="20535" name="Line 31"/>
            <p:cNvSpPr>
              <a:spLocks noChangeShapeType="1"/>
            </p:cNvSpPr>
            <p:nvPr/>
          </p:nvSpPr>
          <p:spPr bwMode="auto">
            <a:xfrm>
              <a:off x="1200" y="24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10" name="Text Box 32"/>
          <p:cNvSpPr txBox="1">
            <a:spLocks noChangeArrowheads="1"/>
          </p:cNvSpPr>
          <p:nvPr/>
        </p:nvSpPr>
        <p:spPr bwMode="auto">
          <a:xfrm>
            <a:off x="3297238" y="2819400"/>
            <a:ext cx="8175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</a:t>
            </a:r>
          </a:p>
        </p:txBody>
      </p:sp>
      <p:sp>
        <p:nvSpPr>
          <p:cNvPr id="20511" name="Line 33"/>
          <p:cNvSpPr>
            <a:spLocks noChangeShapeType="1"/>
          </p:cNvSpPr>
          <p:nvPr/>
        </p:nvSpPr>
        <p:spPr bwMode="auto">
          <a:xfrm>
            <a:off x="3730625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12" name="Line 34"/>
          <p:cNvSpPr>
            <a:spLocks noChangeShapeType="1"/>
          </p:cNvSpPr>
          <p:nvPr/>
        </p:nvSpPr>
        <p:spPr bwMode="auto">
          <a:xfrm flipH="1">
            <a:off x="23590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13" name="Line 35"/>
          <p:cNvSpPr>
            <a:spLocks noChangeShapeType="1"/>
          </p:cNvSpPr>
          <p:nvPr/>
        </p:nvSpPr>
        <p:spPr bwMode="auto">
          <a:xfrm flipH="1">
            <a:off x="31972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14" name="Line 36"/>
          <p:cNvSpPr>
            <a:spLocks noChangeShapeType="1"/>
          </p:cNvSpPr>
          <p:nvPr/>
        </p:nvSpPr>
        <p:spPr bwMode="auto">
          <a:xfrm flipH="1">
            <a:off x="48736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15" name="Line 37"/>
          <p:cNvSpPr>
            <a:spLocks noChangeShapeType="1"/>
          </p:cNvSpPr>
          <p:nvPr/>
        </p:nvSpPr>
        <p:spPr bwMode="auto">
          <a:xfrm flipH="1">
            <a:off x="57118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5940425" y="3549650"/>
            <a:ext cx="609600" cy="336550"/>
            <a:chOff x="3646" y="2496"/>
            <a:chExt cx="384" cy="212"/>
          </a:xfrm>
        </p:grpSpPr>
        <p:sp>
          <p:nvSpPr>
            <p:cNvPr id="20529" name="Rectangle 39"/>
            <p:cNvSpPr>
              <a:spLocks noChangeArrowheads="1"/>
            </p:cNvSpPr>
            <p:nvPr/>
          </p:nvSpPr>
          <p:spPr bwMode="auto">
            <a:xfrm>
              <a:off x="3646" y="2496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0" name="Line 40"/>
            <p:cNvSpPr>
              <a:spLocks noChangeShapeType="1"/>
            </p:cNvSpPr>
            <p:nvPr/>
          </p:nvSpPr>
          <p:spPr bwMode="auto">
            <a:xfrm>
              <a:off x="393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Line 41"/>
            <p:cNvSpPr>
              <a:spLocks noChangeShapeType="1"/>
            </p:cNvSpPr>
            <p:nvPr/>
          </p:nvSpPr>
          <p:spPr bwMode="auto">
            <a:xfrm>
              <a:off x="374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Text Box 42"/>
            <p:cNvSpPr txBox="1">
              <a:spLocks noChangeArrowheads="1"/>
            </p:cNvSpPr>
            <p:nvPr/>
          </p:nvSpPr>
          <p:spPr bwMode="auto">
            <a:xfrm>
              <a:off x="3742" y="2496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1</a:t>
              </a:r>
            </a:p>
          </p:txBody>
        </p:sp>
        <p:sp>
          <p:nvSpPr>
            <p:cNvPr id="20533" name="Line 43"/>
            <p:cNvSpPr>
              <a:spLocks noChangeShapeType="1"/>
            </p:cNvSpPr>
            <p:nvPr/>
          </p:nvSpPr>
          <p:spPr bwMode="auto">
            <a:xfrm rot="409544" flipH="1">
              <a:off x="3934" y="249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17" name="Rectangle 44"/>
          <p:cNvSpPr>
            <a:spLocks noChangeArrowheads="1"/>
          </p:cNvSpPr>
          <p:nvPr/>
        </p:nvSpPr>
        <p:spPr bwMode="auto">
          <a:xfrm>
            <a:off x="3429000" y="44513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8" name="Line 45"/>
          <p:cNvSpPr>
            <a:spLocks noChangeShapeType="1"/>
          </p:cNvSpPr>
          <p:nvPr/>
        </p:nvSpPr>
        <p:spPr bwMode="auto">
          <a:xfrm>
            <a:off x="38862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19" name="Line 46"/>
          <p:cNvSpPr>
            <a:spLocks noChangeShapeType="1"/>
          </p:cNvSpPr>
          <p:nvPr/>
        </p:nvSpPr>
        <p:spPr bwMode="auto">
          <a:xfrm>
            <a:off x="35814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0" name="Text Box 47"/>
          <p:cNvSpPr txBox="1">
            <a:spLocks noChangeArrowheads="1"/>
          </p:cNvSpPr>
          <p:nvPr/>
        </p:nvSpPr>
        <p:spPr bwMode="auto">
          <a:xfrm>
            <a:off x="3581400" y="445135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9</a:t>
            </a:r>
          </a:p>
        </p:txBody>
      </p:sp>
      <p:sp>
        <p:nvSpPr>
          <p:cNvPr id="20521" name="Text Box 48"/>
          <p:cNvSpPr txBox="1">
            <a:spLocks noChangeArrowheads="1"/>
          </p:cNvSpPr>
          <p:nvPr/>
        </p:nvSpPr>
        <p:spPr bwMode="auto">
          <a:xfrm>
            <a:off x="1905000" y="4419600"/>
            <a:ext cx="1038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newNode</a:t>
            </a:r>
          </a:p>
        </p:txBody>
      </p:sp>
      <p:sp>
        <p:nvSpPr>
          <p:cNvPr id="20522" name="Line 49"/>
          <p:cNvSpPr>
            <a:spLocks noChangeShapeType="1"/>
          </p:cNvSpPr>
          <p:nvPr/>
        </p:nvSpPr>
        <p:spPr bwMode="auto">
          <a:xfrm>
            <a:off x="2895600" y="46037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24" name="Freeform 57"/>
          <p:cNvSpPr>
            <a:spLocks/>
          </p:cNvSpPr>
          <p:nvPr/>
        </p:nvSpPr>
        <p:spPr bwMode="auto">
          <a:xfrm>
            <a:off x="3962400" y="3854450"/>
            <a:ext cx="762000" cy="838200"/>
          </a:xfrm>
          <a:custGeom>
            <a:avLst/>
            <a:gdLst>
              <a:gd name="T0" fmla="*/ 0 w 384"/>
              <a:gd name="T1" fmla="*/ 480 h 480"/>
              <a:gd name="T2" fmla="*/ 288 w 384"/>
              <a:gd name="T3" fmla="*/ 432 h 480"/>
              <a:gd name="T4" fmla="*/ 384 w 384"/>
              <a:gd name="T5" fmla="*/ 0 h 480"/>
              <a:gd name="T6" fmla="*/ 0 60000 65536"/>
              <a:gd name="T7" fmla="*/ 0 60000 65536"/>
              <a:gd name="T8" fmla="*/ 0 60000 65536"/>
              <a:gd name="T9" fmla="*/ 0 w 384"/>
              <a:gd name="T10" fmla="*/ 0 h 480"/>
              <a:gd name="T11" fmla="*/ 384 w 38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480">
                <a:moveTo>
                  <a:pt x="0" y="480"/>
                </a:moveTo>
                <a:lnTo>
                  <a:pt x="288" y="432"/>
                </a:lnTo>
                <a:lnTo>
                  <a:pt x="38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25" name="Line 58"/>
          <p:cNvSpPr>
            <a:spLocks noChangeShapeType="1"/>
          </p:cNvSpPr>
          <p:nvPr/>
        </p:nvSpPr>
        <p:spPr bwMode="auto">
          <a:xfrm>
            <a:off x="39624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26" name="Line 59"/>
          <p:cNvSpPr>
            <a:spLocks noChangeShapeType="1"/>
          </p:cNvSpPr>
          <p:nvPr/>
        </p:nvSpPr>
        <p:spPr bwMode="auto">
          <a:xfrm flipH="1">
            <a:off x="4038600" y="3810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Group 40"/>
          <p:cNvGrpSpPr>
            <a:grpSpLocks/>
          </p:cNvGrpSpPr>
          <p:nvPr/>
        </p:nvGrpSpPr>
        <p:grpSpPr bwMode="auto">
          <a:xfrm>
            <a:off x="4343400" y="4419600"/>
            <a:ext cx="457200" cy="304800"/>
            <a:chOff x="4464" y="3600"/>
            <a:chExt cx="288" cy="192"/>
          </a:xfrm>
        </p:grpSpPr>
        <p:sp>
          <p:nvSpPr>
            <p:cNvPr id="57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Doubly-linked List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1144587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newNode-&gt;setNext( current-&gt;getNext()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newNode-&gt;setprev( current );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7072313" y="35179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17494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2206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22828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1901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25876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3044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31210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2740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34258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3883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3578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42640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>
            <a:off x="4721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47974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4416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51022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>
            <a:off x="5559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>
            <a:off x="56356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>
            <a:off x="5254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2719388" y="35496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3557588" y="3549650"/>
            <a:ext cx="3286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21530" name="Text Box 26"/>
          <p:cNvSpPr txBox="1">
            <a:spLocks noChangeArrowheads="1"/>
          </p:cNvSpPr>
          <p:nvPr/>
        </p:nvSpPr>
        <p:spPr bwMode="auto">
          <a:xfrm>
            <a:off x="4416425" y="35496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5254625" y="3549650"/>
            <a:ext cx="32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7</a:t>
            </a:r>
          </a:p>
        </p:txBody>
      </p:sp>
      <p:sp>
        <p:nvSpPr>
          <p:cNvPr id="21532" name="Line 28"/>
          <p:cNvSpPr>
            <a:spLocks noChangeShapeType="1"/>
          </p:cNvSpPr>
          <p:nvPr/>
        </p:nvSpPr>
        <p:spPr bwMode="auto">
          <a:xfrm rot="409544" flipH="1">
            <a:off x="1749425" y="354965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900113" y="3517900"/>
            <a:ext cx="849312" cy="336550"/>
            <a:chOff x="809" y="2380"/>
            <a:chExt cx="535" cy="212"/>
          </a:xfrm>
        </p:grpSpPr>
        <p:sp>
          <p:nvSpPr>
            <p:cNvPr id="21562" name="Text Box 30"/>
            <p:cNvSpPr txBox="1">
              <a:spLocks noChangeArrowheads="1"/>
            </p:cNvSpPr>
            <p:nvPr/>
          </p:nvSpPr>
          <p:spPr bwMode="auto">
            <a:xfrm>
              <a:off x="809" y="2380"/>
              <a:ext cx="40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head</a:t>
              </a:r>
            </a:p>
          </p:txBody>
        </p:sp>
        <p:sp>
          <p:nvSpPr>
            <p:cNvPr id="21563" name="Line 31"/>
            <p:cNvSpPr>
              <a:spLocks noChangeShapeType="1"/>
            </p:cNvSpPr>
            <p:nvPr/>
          </p:nvSpPr>
          <p:spPr bwMode="auto">
            <a:xfrm>
              <a:off x="1200" y="24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34" name="Text Box 32"/>
          <p:cNvSpPr txBox="1">
            <a:spLocks noChangeArrowheads="1"/>
          </p:cNvSpPr>
          <p:nvPr/>
        </p:nvSpPr>
        <p:spPr bwMode="auto">
          <a:xfrm>
            <a:off x="3297238" y="2819400"/>
            <a:ext cx="8175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</a:t>
            </a:r>
          </a:p>
        </p:txBody>
      </p:sp>
      <p:sp>
        <p:nvSpPr>
          <p:cNvPr id="21535" name="Line 33"/>
          <p:cNvSpPr>
            <a:spLocks noChangeShapeType="1"/>
          </p:cNvSpPr>
          <p:nvPr/>
        </p:nvSpPr>
        <p:spPr bwMode="auto">
          <a:xfrm>
            <a:off x="3730625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36" name="Line 34"/>
          <p:cNvSpPr>
            <a:spLocks noChangeShapeType="1"/>
          </p:cNvSpPr>
          <p:nvPr/>
        </p:nvSpPr>
        <p:spPr bwMode="auto">
          <a:xfrm flipH="1">
            <a:off x="23590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37" name="Line 35"/>
          <p:cNvSpPr>
            <a:spLocks noChangeShapeType="1"/>
          </p:cNvSpPr>
          <p:nvPr/>
        </p:nvSpPr>
        <p:spPr bwMode="auto">
          <a:xfrm flipH="1">
            <a:off x="31972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38" name="Line 36"/>
          <p:cNvSpPr>
            <a:spLocks noChangeShapeType="1"/>
          </p:cNvSpPr>
          <p:nvPr/>
        </p:nvSpPr>
        <p:spPr bwMode="auto">
          <a:xfrm flipH="1">
            <a:off x="48736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39" name="Line 37"/>
          <p:cNvSpPr>
            <a:spLocks noChangeShapeType="1"/>
          </p:cNvSpPr>
          <p:nvPr/>
        </p:nvSpPr>
        <p:spPr bwMode="auto">
          <a:xfrm flipH="1">
            <a:off x="57118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5940425" y="3549650"/>
            <a:ext cx="609600" cy="336550"/>
            <a:chOff x="3646" y="2496"/>
            <a:chExt cx="384" cy="212"/>
          </a:xfrm>
        </p:grpSpPr>
        <p:sp>
          <p:nvSpPr>
            <p:cNvPr id="21557" name="Rectangle 39"/>
            <p:cNvSpPr>
              <a:spLocks noChangeArrowheads="1"/>
            </p:cNvSpPr>
            <p:nvPr/>
          </p:nvSpPr>
          <p:spPr bwMode="auto">
            <a:xfrm>
              <a:off x="3646" y="2496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8" name="Line 40"/>
            <p:cNvSpPr>
              <a:spLocks noChangeShapeType="1"/>
            </p:cNvSpPr>
            <p:nvPr/>
          </p:nvSpPr>
          <p:spPr bwMode="auto">
            <a:xfrm>
              <a:off x="393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Line 41"/>
            <p:cNvSpPr>
              <a:spLocks noChangeShapeType="1"/>
            </p:cNvSpPr>
            <p:nvPr/>
          </p:nvSpPr>
          <p:spPr bwMode="auto">
            <a:xfrm>
              <a:off x="374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Text Box 42"/>
            <p:cNvSpPr txBox="1">
              <a:spLocks noChangeArrowheads="1"/>
            </p:cNvSpPr>
            <p:nvPr/>
          </p:nvSpPr>
          <p:spPr bwMode="auto">
            <a:xfrm>
              <a:off x="3742" y="2496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1</a:t>
              </a:r>
            </a:p>
          </p:txBody>
        </p:sp>
        <p:sp>
          <p:nvSpPr>
            <p:cNvPr id="21561" name="Line 43"/>
            <p:cNvSpPr>
              <a:spLocks noChangeShapeType="1"/>
            </p:cNvSpPr>
            <p:nvPr/>
          </p:nvSpPr>
          <p:spPr bwMode="auto">
            <a:xfrm rot="409544" flipH="1">
              <a:off x="3934" y="249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41" name="Rectangle 44"/>
          <p:cNvSpPr>
            <a:spLocks noChangeArrowheads="1"/>
          </p:cNvSpPr>
          <p:nvPr/>
        </p:nvSpPr>
        <p:spPr bwMode="auto">
          <a:xfrm>
            <a:off x="3429000" y="44513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Line 45"/>
          <p:cNvSpPr>
            <a:spLocks noChangeShapeType="1"/>
          </p:cNvSpPr>
          <p:nvPr/>
        </p:nvSpPr>
        <p:spPr bwMode="auto">
          <a:xfrm>
            <a:off x="38862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43" name="Line 46"/>
          <p:cNvSpPr>
            <a:spLocks noChangeShapeType="1"/>
          </p:cNvSpPr>
          <p:nvPr/>
        </p:nvSpPr>
        <p:spPr bwMode="auto">
          <a:xfrm>
            <a:off x="35814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44" name="Text Box 47"/>
          <p:cNvSpPr txBox="1">
            <a:spLocks noChangeArrowheads="1"/>
          </p:cNvSpPr>
          <p:nvPr/>
        </p:nvSpPr>
        <p:spPr bwMode="auto">
          <a:xfrm>
            <a:off x="3581400" y="445135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9</a:t>
            </a:r>
          </a:p>
        </p:txBody>
      </p:sp>
      <p:sp>
        <p:nvSpPr>
          <p:cNvPr id="21545" name="Text Box 48"/>
          <p:cNvSpPr txBox="1">
            <a:spLocks noChangeArrowheads="1"/>
          </p:cNvSpPr>
          <p:nvPr/>
        </p:nvSpPr>
        <p:spPr bwMode="auto">
          <a:xfrm>
            <a:off x="1905000" y="4419600"/>
            <a:ext cx="1038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newNode</a:t>
            </a:r>
          </a:p>
        </p:txBody>
      </p:sp>
      <p:sp>
        <p:nvSpPr>
          <p:cNvPr id="21546" name="Line 49"/>
          <p:cNvSpPr>
            <a:spLocks noChangeShapeType="1"/>
          </p:cNvSpPr>
          <p:nvPr/>
        </p:nvSpPr>
        <p:spPr bwMode="auto">
          <a:xfrm>
            <a:off x="2895600" y="46037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54" name="Text Box 55"/>
          <p:cNvSpPr txBox="1">
            <a:spLocks noChangeArrowheads="1"/>
          </p:cNvSpPr>
          <p:nvPr/>
        </p:nvSpPr>
        <p:spPr bwMode="auto">
          <a:xfrm>
            <a:off x="2971800" y="4038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sz="1400" dirty="0">
              <a:solidFill>
                <a:srgbClr val="800000"/>
              </a:solidFill>
              <a:latin typeface="Helvetica" pitchFamily="34" charset="0"/>
            </a:endParaRPr>
          </a:p>
        </p:txBody>
      </p:sp>
      <p:sp>
        <p:nvSpPr>
          <p:cNvPr id="21549" name="Line 59"/>
          <p:cNvSpPr>
            <a:spLocks noChangeShapeType="1"/>
          </p:cNvSpPr>
          <p:nvPr/>
        </p:nvSpPr>
        <p:spPr bwMode="auto">
          <a:xfrm flipV="1">
            <a:off x="3505200" y="38544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50" name="Freeform 60"/>
          <p:cNvSpPr>
            <a:spLocks/>
          </p:cNvSpPr>
          <p:nvPr/>
        </p:nvSpPr>
        <p:spPr bwMode="auto">
          <a:xfrm>
            <a:off x="3962400" y="3854450"/>
            <a:ext cx="762000" cy="838200"/>
          </a:xfrm>
          <a:custGeom>
            <a:avLst/>
            <a:gdLst>
              <a:gd name="T0" fmla="*/ 0 w 384"/>
              <a:gd name="T1" fmla="*/ 480 h 480"/>
              <a:gd name="T2" fmla="*/ 288 w 384"/>
              <a:gd name="T3" fmla="*/ 432 h 480"/>
              <a:gd name="T4" fmla="*/ 384 w 384"/>
              <a:gd name="T5" fmla="*/ 0 h 480"/>
              <a:gd name="T6" fmla="*/ 0 60000 65536"/>
              <a:gd name="T7" fmla="*/ 0 60000 65536"/>
              <a:gd name="T8" fmla="*/ 0 60000 65536"/>
              <a:gd name="T9" fmla="*/ 0 w 384"/>
              <a:gd name="T10" fmla="*/ 0 h 480"/>
              <a:gd name="T11" fmla="*/ 384 w 38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480">
                <a:moveTo>
                  <a:pt x="0" y="480"/>
                </a:moveTo>
                <a:lnTo>
                  <a:pt x="288" y="432"/>
                </a:lnTo>
                <a:lnTo>
                  <a:pt x="38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51" name="Line 62"/>
          <p:cNvSpPr>
            <a:spLocks noChangeShapeType="1"/>
          </p:cNvSpPr>
          <p:nvPr/>
        </p:nvSpPr>
        <p:spPr bwMode="auto">
          <a:xfrm>
            <a:off x="39624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52" name="Line 63"/>
          <p:cNvSpPr>
            <a:spLocks noChangeShapeType="1"/>
          </p:cNvSpPr>
          <p:nvPr/>
        </p:nvSpPr>
        <p:spPr bwMode="auto">
          <a:xfrm flipH="1">
            <a:off x="4038600" y="3810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0" name="Group 40"/>
          <p:cNvGrpSpPr>
            <a:grpSpLocks/>
          </p:cNvGrpSpPr>
          <p:nvPr/>
        </p:nvGrpSpPr>
        <p:grpSpPr bwMode="auto">
          <a:xfrm>
            <a:off x="4343400" y="4419600"/>
            <a:ext cx="457200" cy="304800"/>
            <a:chOff x="4464" y="3600"/>
            <a:chExt cx="288" cy="192"/>
          </a:xfrm>
        </p:grpSpPr>
        <p:sp>
          <p:nvSpPr>
            <p:cNvPr id="61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63" name="Group 40"/>
          <p:cNvGrpSpPr>
            <a:grpSpLocks/>
          </p:cNvGrpSpPr>
          <p:nvPr/>
        </p:nvGrpSpPr>
        <p:grpSpPr bwMode="auto">
          <a:xfrm>
            <a:off x="3124200" y="4038600"/>
            <a:ext cx="457200" cy="304800"/>
            <a:chOff x="4464" y="3600"/>
            <a:chExt cx="288" cy="192"/>
          </a:xfrm>
        </p:grpSpPr>
        <p:sp>
          <p:nvSpPr>
            <p:cNvPr id="64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Doubly-linked List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1144587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newNode-&gt;setNext( current-&gt;getNext()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newNode-&gt;setprev( current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(current-&gt;getNext())-&gt;setPrev(newNode);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7072313" y="35179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7494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2206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22828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1901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25876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3044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31210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2740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34258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>
            <a:off x="3883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3" name="Line 16"/>
          <p:cNvSpPr>
            <a:spLocks noChangeShapeType="1"/>
          </p:cNvSpPr>
          <p:nvPr/>
        </p:nvSpPr>
        <p:spPr bwMode="auto">
          <a:xfrm>
            <a:off x="3578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4" name="Rectangle 17"/>
          <p:cNvSpPr>
            <a:spLocks noChangeArrowheads="1"/>
          </p:cNvSpPr>
          <p:nvPr/>
        </p:nvSpPr>
        <p:spPr bwMode="auto">
          <a:xfrm>
            <a:off x="42640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Line 18"/>
          <p:cNvSpPr>
            <a:spLocks noChangeShapeType="1"/>
          </p:cNvSpPr>
          <p:nvPr/>
        </p:nvSpPr>
        <p:spPr bwMode="auto">
          <a:xfrm>
            <a:off x="4721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6" name="Line 19"/>
          <p:cNvSpPr>
            <a:spLocks noChangeShapeType="1"/>
          </p:cNvSpPr>
          <p:nvPr/>
        </p:nvSpPr>
        <p:spPr bwMode="auto">
          <a:xfrm>
            <a:off x="47974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47" name="Line 20"/>
          <p:cNvSpPr>
            <a:spLocks noChangeShapeType="1"/>
          </p:cNvSpPr>
          <p:nvPr/>
        </p:nvSpPr>
        <p:spPr bwMode="auto">
          <a:xfrm>
            <a:off x="4416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8" name="Rectangle 21"/>
          <p:cNvSpPr>
            <a:spLocks noChangeArrowheads="1"/>
          </p:cNvSpPr>
          <p:nvPr/>
        </p:nvSpPr>
        <p:spPr bwMode="auto">
          <a:xfrm>
            <a:off x="51022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Line 22"/>
          <p:cNvSpPr>
            <a:spLocks noChangeShapeType="1"/>
          </p:cNvSpPr>
          <p:nvPr/>
        </p:nvSpPr>
        <p:spPr bwMode="auto">
          <a:xfrm>
            <a:off x="5559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0" name="Line 23"/>
          <p:cNvSpPr>
            <a:spLocks noChangeShapeType="1"/>
          </p:cNvSpPr>
          <p:nvPr/>
        </p:nvSpPr>
        <p:spPr bwMode="auto">
          <a:xfrm>
            <a:off x="56356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51" name="Line 24"/>
          <p:cNvSpPr>
            <a:spLocks noChangeShapeType="1"/>
          </p:cNvSpPr>
          <p:nvPr/>
        </p:nvSpPr>
        <p:spPr bwMode="auto">
          <a:xfrm>
            <a:off x="5254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2" name="Text Box 25"/>
          <p:cNvSpPr txBox="1">
            <a:spLocks noChangeArrowheads="1"/>
          </p:cNvSpPr>
          <p:nvPr/>
        </p:nvSpPr>
        <p:spPr bwMode="auto">
          <a:xfrm>
            <a:off x="2719388" y="35496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sp>
        <p:nvSpPr>
          <p:cNvPr id="22553" name="Text Box 26"/>
          <p:cNvSpPr txBox="1">
            <a:spLocks noChangeArrowheads="1"/>
          </p:cNvSpPr>
          <p:nvPr/>
        </p:nvSpPr>
        <p:spPr bwMode="auto">
          <a:xfrm>
            <a:off x="3557588" y="3549650"/>
            <a:ext cx="3286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22554" name="Text Box 27"/>
          <p:cNvSpPr txBox="1">
            <a:spLocks noChangeArrowheads="1"/>
          </p:cNvSpPr>
          <p:nvPr/>
        </p:nvSpPr>
        <p:spPr bwMode="auto">
          <a:xfrm>
            <a:off x="4416425" y="35496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22555" name="Text Box 28"/>
          <p:cNvSpPr txBox="1">
            <a:spLocks noChangeArrowheads="1"/>
          </p:cNvSpPr>
          <p:nvPr/>
        </p:nvSpPr>
        <p:spPr bwMode="auto">
          <a:xfrm>
            <a:off x="5254625" y="3549650"/>
            <a:ext cx="32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7</a:t>
            </a:r>
          </a:p>
        </p:txBody>
      </p:sp>
      <p:sp>
        <p:nvSpPr>
          <p:cNvPr id="22556" name="Line 29"/>
          <p:cNvSpPr>
            <a:spLocks noChangeShapeType="1"/>
          </p:cNvSpPr>
          <p:nvPr/>
        </p:nvSpPr>
        <p:spPr bwMode="auto">
          <a:xfrm rot="409544" flipH="1">
            <a:off x="1749425" y="354965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900113" y="3517900"/>
            <a:ext cx="849312" cy="336550"/>
            <a:chOff x="809" y="2380"/>
            <a:chExt cx="535" cy="212"/>
          </a:xfrm>
        </p:grpSpPr>
        <p:sp>
          <p:nvSpPr>
            <p:cNvPr id="22589" name="Text Box 31"/>
            <p:cNvSpPr txBox="1">
              <a:spLocks noChangeArrowheads="1"/>
            </p:cNvSpPr>
            <p:nvPr/>
          </p:nvSpPr>
          <p:spPr bwMode="auto">
            <a:xfrm>
              <a:off x="809" y="2380"/>
              <a:ext cx="40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head</a:t>
              </a:r>
            </a:p>
          </p:txBody>
        </p:sp>
        <p:sp>
          <p:nvSpPr>
            <p:cNvPr id="22590" name="Line 32"/>
            <p:cNvSpPr>
              <a:spLocks noChangeShapeType="1"/>
            </p:cNvSpPr>
            <p:nvPr/>
          </p:nvSpPr>
          <p:spPr bwMode="auto">
            <a:xfrm>
              <a:off x="1200" y="24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58" name="Text Box 33"/>
          <p:cNvSpPr txBox="1">
            <a:spLocks noChangeArrowheads="1"/>
          </p:cNvSpPr>
          <p:nvPr/>
        </p:nvSpPr>
        <p:spPr bwMode="auto">
          <a:xfrm>
            <a:off x="3297238" y="2819400"/>
            <a:ext cx="8175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</a:t>
            </a:r>
          </a:p>
        </p:txBody>
      </p:sp>
      <p:sp>
        <p:nvSpPr>
          <p:cNvPr id="22559" name="Line 34"/>
          <p:cNvSpPr>
            <a:spLocks noChangeShapeType="1"/>
          </p:cNvSpPr>
          <p:nvPr/>
        </p:nvSpPr>
        <p:spPr bwMode="auto">
          <a:xfrm>
            <a:off x="3730625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60" name="Line 35"/>
          <p:cNvSpPr>
            <a:spLocks noChangeShapeType="1"/>
          </p:cNvSpPr>
          <p:nvPr/>
        </p:nvSpPr>
        <p:spPr bwMode="auto">
          <a:xfrm flipH="1">
            <a:off x="23590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61" name="Line 36"/>
          <p:cNvSpPr>
            <a:spLocks noChangeShapeType="1"/>
          </p:cNvSpPr>
          <p:nvPr/>
        </p:nvSpPr>
        <p:spPr bwMode="auto">
          <a:xfrm flipH="1">
            <a:off x="31972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62" name="Line 37"/>
          <p:cNvSpPr>
            <a:spLocks noChangeShapeType="1"/>
          </p:cNvSpPr>
          <p:nvPr/>
        </p:nvSpPr>
        <p:spPr bwMode="auto">
          <a:xfrm flipH="1">
            <a:off x="48736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63" name="Line 38"/>
          <p:cNvSpPr>
            <a:spLocks noChangeShapeType="1"/>
          </p:cNvSpPr>
          <p:nvPr/>
        </p:nvSpPr>
        <p:spPr bwMode="auto">
          <a:xfrm flipH="1">
            <a:off x="57118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940425" y="3549650"/>
            <a:ext cx="609600" cy="336550"/>
            <a:chOff x="3646" y="2496"/>
            <a:chExt cx="384" cy="212"/>
          </a:xfrm>
        </p:grpSpPr>
        <p:sp>
          <p:nvSpPr>
            <p:cNvPr id="22584" name="Rectangle 40"/>
            <p:cNvSpPr>
              <a:spLocks noChangeArrowheads="1"/>
            </p:cNvSpPr>
            <p:nvPr/>
          </p:nvSpPr>
          <p:spPr bwMode="auto">
            <a:xfrm>
              <a:off x="3646" y="2496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5" name="Line 41"/>
            <p:cNvSpPr>
              <a:spLocks noChangeShapeType="1"/>
            </p:cNvSpPr>
            <p:nvPr/>
          </p:nvSpPr>
          <p:spPr bwMode="auto">
            <a:xfrm>
              <a:off x="393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Line 42"/>
            <p:cNvSpPr>
              <a:spLocks noChangeShapeType="1"/>
            </p:cNvSpPr>
            <p:nvPr/>
          </p:nvSpPr>
          <p:spPr bwMode="auto">
            <a:xfrm>
              <a:off x="374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7" name="Text Box 43"/>
            <p:cNvSpPr txBox="1">
              <a:spLocks noChangeArrowheads="1"/>
            </p:cNvSpPr>
            <p:nvPr/>
          </p:nvSpPr>
          <p:spPr bwMode="auto">
            <a:xfrm>
              <a:off x="3742" y="2496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1</a:t>
              </a:r>
            </a:p>
          </p:txBody>
        </p:sp>
        <p:sp>
          <p:nvSpPr>
            <p:cNvPr id="22588" name="Line 44"/>
            <p:cNvSpPr>
              <a:spLocks noChangeShapeType="1"/>
            </p:cNvSpPr>
            <p:nvPr/>
          </p:nvSpPr>
          <p:spPr bwMode="auto">
            <a:xfrm rot="409544" flipH="1">
              <a:off x="3934" y="249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65" name="Rectangle 45"/>
          <p:cNvSpPr>
            <a:spLocks noChangeArrowheads="1"/>
          </p:cNvSpPr>
          <p:nvPr/>
        </p:nvSpPr>
        <p:spPr bwMode="auto">
          <a:xfrm>
            <a:off x="3429000" y="44513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66" name="Line 46"/>
          <p:cNvSpPr>
            <a:spLocks noChangeShapeType="1"/>
          </p:cNvSpPr>
          <p:nvPr/>
        </p:nvSpPr>
        <p:spPr bwMode="auto">
          <a:xfrm>
            <a:off x="38862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67" name="Line 47"/>
          <p:cNvSpPr>
            <a:spLocks noChangeShapeType="1"/>
          </p:cNvSpPr>
          <p:nvPr/>
        </p:nvSpPr>
        <p:spPr bwMode="auto">
          <a:xfrm>
            <a:off x="35814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68" name="Text Box 48"/>
          <p:cNvSpPr txBox="1">
            <a:spLocks noChangeArrowheads="1"/>
          </p:cNvSpPr>
          <p:nvPr/>
        </p:nvSpPr>
        <p:spPr bwMode="auto">
          <a:xfrm>
            <a:off x="3581400" y="445135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9</a:t>
            </a:r>
          </a:p>
        </p:txBody>
      </p:sp>
      <p:sp>
        <p:nvSpPr>
          <p:cNvPr id="22569" name="Text Box 49"/>
          <p:cNvSpPr txBox="1">
            <a:spLocks noChangeArrowheads="1"/>
          </p:cNvSpPr>
          <p:nvPr/>
        </p:nvSpPr>
        <p:spPr bwMode="auto">
          <a:xfrm>
            <a:off x="1905000" y="4419600"/>
            <a:ext cx="1038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newNode</a:t>
            </a:r>
          </a:p>
        </p:txBody>
      </p:sp>
      <p:sp>
        <p:nvSpPr>
          <p:cNvPr id="22570" name="Line 50"/>
          <p:cNvSpPr>
            <a:spLocks noChangeShapeType="1"/>
          </p:cNvSpPr>
          <p:nvPr/>
        </p:nvSpPr>
        <p:spPr bwMode="auto">
          <a:xfrm>
            <a:off x="2895600" y="46037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74" name="Line 63"/>
          <p:cNvSpPr>
            <a:spLocks noChangeShapeType="1"/>
          </p:cNvSpPr>
          <p:nvPr/>
        </p:nvSpPr>
        <p:spPr bwMode="auto">
          <a:xfrm flipV="1">
            <a:off x="3505200" y="38544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75" name="Freeform 64"/>
          <p:cNvSpPr>
            <a:spLocks/>
          </p:cNvSpPr>
          <p:nvPr/>
        </p:nvSpPr>
        <p:spPr bwMode="auto">
          <a:xfrm>
            <a:off x="3962400" y="3854450"/>
            <a:ext cx="762000" cy="838200"/>
          </a:xfrm>
          <a:custGeom>
            <a:avLst/>
            <a:gdLst>
              <a:gd name="T0" fmla="*/ 0 w 384"/>
              <a:gd name="T1" fmla="*/ 480 h 480"/>
              <a:gd name="T2" fmla="*/ 288 w 384"/>
              <a:gd name="T3" fmla="*/ 432 h 480"/>
              <a:gd name="T4" fmla="*/ 384 w 384"/>
              <a:gd name="T5" fmla="*/ 0 h 480"/>
              <a:gd name="T6" fmla="*/ 0 60000 65536"/>
              <a:gd name="T7" fmla="*/ 0 60000 65536"/>
              <a:gd name="T8" fmla="*/ 0 60000 65536"/>
              <a:gd name="T9" fmla="*/ 0 w 384"/>
              <a:gd name="T10" fmla="*/ 0 h 480"/>
              <a:gd name="T11" fmla="*/ 384 w 38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480">
                <a:moveTo>
                  <a:pt x="0" y="480"/>
                </a:moveTo>
                <a:lnTo>
                  <a:pt x="288" y="432"/>
                </a:lnTo>
                <a:lnTo>
                  <a:pt x="38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76" name="Freeform 65"/>
          <p:cNvSpPr>
            <a:spLocks/>
          </p:cNvSpPr>
          <p:nvPr/>
        </p:nvSpPr>
        <p:spPr bwMode="auto">
          <a:xfrm>
            <a:off x="3886200" y="3778250"/>
            <a:ext cx="457200" cy="685800"/>
          </a:xfrm>
          <a:custGeom>
            <a:avLst/>
            <a:gdLst>
              <a:gd name="T0" fmla="*/ 288 w 288"/>
              <a:gd name="T1" fmla="*/ 0 h 432"/>
              <a:gd name="T2" fmla="*/ 240 w 288"/>
              <a:gd name="T3" fmla="*/ 288 h 432"/>
              <a:gd name="T4" fmla="*/ 0 w 288"/>
              <a:gd name="T5" fmla="*/ 432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288" y="0"/>
                </a:moveTo>
                <a:lnTo>
                  <a:pt x="240" y="288"/>
                </a:lnTo>
                <a:lnTo>
                  <a:pt x="0" y="4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77" name="Line 66"/>
          <p:cNvSpPr>
            <a:spLocks noChangeShapeType="1"/>
          </p:cNvSpPr>
          <p:nvPr/>
        </p:nvSpPr>
        <p:spPr bwMode="auto">
          <a:xfrm>
            <a:off x="39624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3" name="Group 40"/>
          <p:cNvGrpSpPr>
            <a:grpSpLocks/>
          </p:cNvGrpSpPr>
          <p:nvPr/>
        </p:nvGrpSpPr>
        <p:grpSpPr bwMode="auto">
          <a:xfrm>
            <a:off x="4343400" y="4419600"/>
            <a:ext cx="457200" cy="304800"/>
            <a:chOff x="4464" y="3600"/>
            <a:chExt cx="288" cy="192"/>
          </a:xfrm>
        </p:grpSpPr>
        <p:sp>
          <p:nvSpPr>
            <p:cNvPr id="64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66" name="Group 40"/>
          <p:cNvGrpSpPr>
            <a:grpSpLocks/>
          </p:cNvGrpSpPr>
          <p:nvPr/>
        </p:nvGrpSpPr>
        <p:grpSpPr bwMode="auto">
          <a:xfrm>
            <a:off x="3124200" y="4038600"/>
            <a:ext cx="457200" cy="304800"/>
            <a:chOff x="4464" y="3600"/>
            <a:chExt cx="288" cy="192"/>
          </a:xfrm>
        </p:grpSpPr>
        <p:sp>
          <p:nvSpPr>
            <p:cNvPr id="67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grpSp>
        <p:nvGrpSpPr>
          <p:cNvPr id="69" name="Group 40"/>
          <p:cNvGrpSpPr>
            <a:grpSpLocks/>
          </p:cNvGrpSpPr>
          <p:nvPr/>
        </p:nvGrpSpPr>
        <p:grpSpPr bwMode="auto">
          <a:xfrm>
            <a:off x="3962400" y="4038600"/>
            <a:ext cx="457200" cy="304800"/>
            <a:chOff x="4464" y="3600"/>
            <a:chExt cx="288" cy="192"/>
          </a:xfrm>
        </p:grpSpPr>
        <p:sp>
          <p:nvSpPr>
            <p:cNvPr id="70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3</a:t>
              </a:r>
            </a:p>
          </p:txBody>
        </p:sp>
      </p:grpSp>
      <p:sp>
        <p:nvSpPr>
          <p:cNvPr id="72" name="Slide Number Placeholder 7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Doubly-linked List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1144587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newNode-&gt;setNext( current-&gt;getNext()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newNode-&gt;setprev( current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(current-&gt;getNext())-&gt;setPrev(newNode);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current-&gt;setNext( newNode );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7072313" y="35179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size=5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17494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206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22828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1901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25876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3044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31210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2740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34258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>
            <a:off x="3883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H="1">
            <a:off x="3733800" y="3625850"/>
            <a:ext cx="225425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3578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2640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4721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>
            <a:off x="47974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>
            <a:off x="4416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1022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>
            <a:off x="5559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>
            <a:off x="56356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>
            <a:off x="5254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7" name="Text Box 25"/>
          <p:cNvSpPr txBox="1">
            <a:spLocks noChangeArrowheads="1"/>
          </p:cNvSpPr>
          <p:nvPr/>
        </p:nvSpPr>
        <p:spPr bwMode="auto">
          <a:xfrm>
            <a:off x="2719388" y="35496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sp>
        <p:nvSpPr>
          <p:cNvPr id="23578" name="Text Box 26"/>
          <p:cNvSpPr txBox="1">
            <a:spLocks noChangeArrowheads="1"/>
          </p:cNvSpPr>
          <p:nvPr/>
        </p:nvSpPr>
        <p:spPr bwMode="auto">
          <a:xfrm>
            <a:off x="3557588" y="35496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4416425" y="35496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23580" name="Text Box 28"/>
          <p:cNvSpPr txBox="1">
            <a:spLocks noChangeArrowheads="1"/>
          </p:cNvSpPr>
          <p:nvPr/>
        </p:nvSpPr>
        <p:spPr bwMode="auto">
          <a:xfrm>
            <a:off x="5254625" y="3549650"/>
            <a:ext cx="32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7</a:t>
            </a:r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 rot="409544" flipH="1">
            <a:off x="1749425" y="354965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900113" y="3517900"/>
            <a:ext cx="849312" cy="336550"/>
            <a:chOff x="809" y="2380"/>
            <a:chExt cx="535" cy="212"/>
          </a:xfrm>
        </p:grpSpPr>
        <p:sp>
          <p:nvSpPr>
            <p:cNvPr id="23616" name="Text Box 31"/>
            <p:cNvSpPr txBox="1">
              <a:spLocks noChangeArrowheads="1"/>
            </p:cNvSpPr>
            <p:nvPr/>
          </p:nvSpPr>
          <p:spPr bwMode="auto">
            <a:xfrm>
              <a:off x="809" y="2380"/>
              <a:ext cx="40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head</a:t>
              </a:r>
            </a:p>
          </p:txBody>
        </p:sp>
        <p:sp>
          <p:nvSpPr>
            <p:cNvPr id="23617" name="Line 32"/>
            <p:cNvSpPr>
              <a:spLocks noChangeShapeType="1"/>
            </p:cNvSpPr>
            <p:nvPr/>
          </p:nvSpPr>
          <p:spPr bwMode="auto">
            <a:xfrm>
              <a:off x="1200" y="24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83" name="Text Box 33"/>
          <p:cNvSpPr txBox="1">
            <a:spLocks noChangeArrowheads="1"/>
          </p:cNvSpPr>
          <p:nvPr/>
        </p:nvSpPr>
        <p:spPr bwMode="auto">
          <a:xfrm>
            <a:off x="3297238" y="2819400"/>
            <a:ext cx="8175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</a:t>
            </a:r>
          </a:p>
        </p:txBody>
      </p:sp>
      <p:sp>
        <p:nvSpPr>
          <p:cNvPr id="23584" name="Line 34"/>
          <p:cNvSpPr>
            <a:spLocks noChangeShapeType="1"/>
          </p:cNvSpPr>
          <p:nvPr/>
        </p:nvSpPr>
        <p:spPr bwMode="auto">
          <a:xfrm>
            <a:off x="3730625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85" name="Line 35"/>
          <p:cNvSpPr>
            <a:spLocks noChangeShapeType="1"/>
          </p:cNvSpPr>
          <p:nvPr/>
        </p:nvSpPr>
        <p:spPr bwMode="auto">
          <a:xfrm flipH="1">
            <a:off x="23590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86" name="Line 36"/>
          <p:cNvSpPr>
            <a:spLocks noChangeShapeType="1"/>
          </p:cNvSpPr>
          <p:nvPr/>
        </p:nvSpPr>
        <p:spPr bwMode="auto">
          <a:xfrm flipH="1">
            <a:off x="31972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87" name="Line 38"/>
          <p:cNvSpPr>
            <a:spLocks noChangeShapeType="1"/>
          </p:cNvSpPr>
          <p:nvPr/>
        </p:nvSpPr>
        <p:spPr bwMode="auto">
          <a:xfrm flipH="1">
            <a:off x="48736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88" name="Line 39"/>
          <p:cNvSpPr>
            <a:spLocks noChangeShapeType="1"/>
          </p:cNvSpPr>
          <p:nvPr/>
        </p:nvSpPr>
        <p:spPr bwMode="auto">
          <a:xfrm flipH="1">
            <a:off x="57118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5940425" y="3549650"/>
            <a:ext cx="609600" cy="336550"/>
            <a:chOff x="3646" y="2496"/>
            <a:chExt cx="384" cy="212"/>
          </a:xfrm>
        </p:grpSpPr>
        <p:sp>
          <p:nvSpPr>
            <p:cNvPr id="23611" name="Rectangle 41"/>
            <p:cNvSpPr>
              <a:spLocks noChangeArrowheads="1"/>
            </p:cNvSpPr>
            <p:nvPr/>
          </p:nvSpPr>
          <p:spPr bwMode="auto">
            <a:xfrm>
              <a:off x="3646" y="2496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2" name="Line 42"/>
            <p:cNvSpPr>
              <a:spLocks noChangeShapeType="1"/>
            </p:cNvSpPr>
            <p:nvPr/>
          </p:nvSpPr>
          <p:spPr bwMode="auto">
            <a:xfrm>
              <a:off x="393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Line 43"/>
            <p:cNvSpPr>
              <a:spLocks noChangeShapeType="1"/>
            </p:cNvSpPr>
            <p:nvPr/>
          </p:nvSpPr>
          <p:spPr bwMode="auto">
            <a:xfrm>
              <a:off x="374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Text Box 44"/>
            <p:cNvSpPr txBox="1">
              <a:spLocks noChangeArrowheads="1"/>
            </p:cNvSpPr>
            <p:nvPr/>
          </p:nvSpPr>
          <p:spPr bwMode="auto">
            <a:xfrm>
              <a:off x="3742" y="2496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1</a:t>
              </a:r>
            </a:p>
          </p:txBody>
        </p:sp>
        <p:sp>
          <p:nvSpPr>
            <p:cNvPr id="23615" name="Line 45"/>
            <p:cNvSpPr>
              <a:spLocks noChangeShapeType="1"/>
            </p:cNvSpPr>
            <p:nvPr/>
          </p:nvSpPr>
          <p:spPr bwMode="auto">
            <a:xfrm rot="409544" flipH="1">
              <a:off x="3934" y="249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90" name="Rectangle 46"/>
          <p:cNvSpPr>
            <a:spLocks noChangeArrowheads="1"/>
          </p:cNvSpPr>
          <p:nvPr/>
        </p:nvSpPr>
        <p:spPr bwMode="auto">
          <a:xfrm>
            <a:off x="3429000" y="44513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91" name="Line 47"/>
          <p:cNvSpPr>
            <a:spLocks noChangeShapeType="1"/>
          </p:cNvSpPr>
          <p:nvPr/>
        </p:nvSpPr>
        <p:spPr bwMode="auto">
          <a:xfrm>
            <a:off x="38862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92" name="Line 48"/>
          <p:cNvSpPr>
            <a:spLocks noChangeShapeType="1"/>
          </p:cNvSpPr>
          <p:nvPr/>
        </p:nvSpPr>
        <p:spPr bwMode="auto">
          <a:xfrm>
            <a:off x="35814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93" name="Text Box 49"/>
          <p:cNvSpPr txBox="1">
            <a:spLocks noChangeArrowheads="1"/>
          </p:cNvSpPr>
          <p:nvPr/>
        </p:nvSpPr>
        <p:spPr bwMode="auto">
          <a:xfrm>
            <a:off x="3581400" y="445135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9</a:t>
            </a:r>
          </a:p>
        </p:txBody>
      </p:sp>
      <p:sp>
        <p:nvSpPr>
          <p:cNvPr id="23594" name="Text Box 50"/>
          <p:cNvSpPr txBox="1">
            <a:spLocks noChangeArrowheads="1"/>
          </p:cNvSpPr>
          <p:nvPr/>
        </p:nvSpPr>
        <p:spPr bwMode="auto">
          <a:xfrm>
            <a:off x="1905000" y="4419600"/>
            <a:ext cx="1038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newNode</a:t>
            </a:r>
          </a:p>
        </p:txBody>
      </p:sp>
      <p:sp>
        <p:nvSpPr>
          <p:cNvPr id="23595" name="Line 51"/>
          <p:cNvSpPr>
            <a:spLocks noChangeShapeType="1"/>
          </p:cNvSpPr>
          <p:nvPr/>
        </p:nvSpPr>
        <p:spPr bwMode="auto">
          <a:xfrm>
            <a:off x="2895600" y="46037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600" name="Line 65"/>
          <p:cNvSpPr>
            <a:spLocks noChangeShapeType="1"/>
          </p:cNvSpPr>
          <p:nvPr/>
        </p:nvSpPr>
        <p:spPr bwMode="auto">
          <a:xfrm flipV="1">
            <a:off x="3505200" y="38544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601" name="Freeform 67"/>
          <p:cNvSpPr>
            <a:spLocks/>
          </p:cNvSpPr>
          <p:nvPr/>
        </p:nvSpPr>
        <p:spPr bwMode="auto">
          <a:xfrm>
            <a:off x="3962400" y="3854450"/>
            <a:ext cx="762000" cy="838200"/>
          </a:xfrm>
          <a:custGeom>
            <a:avLst/>
            <a:gdLst>
              <a:gd name="T0" fmla="*/ 0 w 384"/>
              <a:gd name="T1" fmla="*/ 480 h 480"/>
              <a:gd name="T2" fmla="*/ 288 w 384"/>
              <a:gd name="T3" fmla="*/ 432 h 480"/>
              <a:gd name="T4" fmla="*/ 384 w 384"/>
              <a:gd name="T5" fmla="*/ 0 h 480"/>
              <a:gd name="T6" fmla="*/ 0 60000 65536"/>
              <a:gd name="T7" fmla="*/ 0 60000 65536"/>
              <a:gd name="T8" fmla="*/ 0 60000 65536"/>
              <a:gd name="T9" fmla="*/ 0 w 384"/>
              <a:gd name="T10" fmla="*/ 0 h 480"/>
              <a:gd name="T11" fmla="*/ 384 w 38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480">
                <a:moveTo>
                  <a:pt x="0" y="480"/>
                </a:moveTo>
                <a:lnTo>
                  <a:pt x="288" y="432"/>
                </a:lnTo>
                <a:lnTo>
                  <a:pt x="38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602" name="Freeform 68"/>
          <p:cNvSpPr>
            <a:spLocks/>
          </p:cNvSpPr>
          <p:nvPr/>
        </p:nvSpPr>
        <p:spPr bwMode="auto">
          <a:xfrm>
            <a:off x="3886200" y="3778250"/>
            <a:ext cx="457200" cy="685800"/>
          </a:xfrm>
          <a:custGeom>
            <a:avLst/>
            <a:gdLst>
              <a:gd name="T0" fmla="*/ 288 w 288"/>
              <a:gd name="T1" fmla="*/ 0 h 432"/>
              <a:gd name="T2" fmla="*/ 240 w 288"/>
              <a:gd name="T3" fmla="*/ 288 h 432"/>
              <a:gd name="T4" fmla="*/ 0 w 288"/>
              <a:gd name="T5" fmla="*/ 432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288" y="0"/>
                </a:moveTo>
                <a:lnTo>
                  <a:pt x="240" y="288"/>
                </a:lnTo>
                <a:lnTo>
                  <a:pt x="0" y="4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6" name="Group 40"/>
          <p:cNvGrpSpPr>
            <a:grpSpLocks/>
          </p:cNvGrpSpPr>
          <p:nvPr/>
        </p:nvGrpSpPr>
        <p:grpSpPr bwMode="auto">
          <a:xfrm>
            <a:off x="4343400" y="4419600"/>
            <a:ext cx="457200" cy="304800"/>
            <a:chOff x="4464" y="3600"/>
            <a:chExt cx="288" cy="192"/>
          </a:xfrm>
        </p:grpSpPr>
        <p:sp>
          <p:nvSpPr>
            <p:cNvPr id="67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69" name="Group 40"/>
          <p:cNvGrpSpPr>
            <a:grpSpLocks/>
          </p:cNvGrpSpPr>
          <p:nvPr/>
        </p:nvGrpSpPr>
        <p:grpSpPr bwMode="auto">
          <a:xfrm>
            <a:off x="3124200" y="4038600"/>
            <a:ext cx="457200" cy="304800"/>
            <a:chOff x="4464" y="3600"/>
            <a:chExt cx="288" cy="192"/>
          </a:xfrm>
        </p:grpSpPr>
        <p:sp>
          <p:nvSpPr>
            <p:cNvPr id="70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grpSp>
        <p:nvGrpSpPr>
          <p:cNvPr id="72" name="Group 40"/>
          <p:cNvGrpSpPr>
            <a:grpSpLocks/>
          </p:cNvGrpSpPr>
          <p:nvPr/>
        </p:nvGrpSpPr>
        <p:grpSpPr bwMode="auto">
          <a:xfrm>
            <a:off x="3581400" y="3962400"/>
            <a:ext cx="457200" cy="304800"/>
            <a:chOff x="4464" y="3600"/>
            <a:chExt cx="288" cy="192"/>
          </a:xfrm>
        </p:grpSpPr>
        <p:sp>
          <p:nvSpPr>
            <p:cNvPr id="73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4</a:t>
              </a:r>
            </a:p>
          </p:txBody>
        </p:sp>
      </p:grpSp>
      <p:grpSp>
        <p:nvGrpSpPr>
          <p:cNvPr id="75" name="Group 40"/>
          <p:cNvGrpSpPr>
            <a:grpSpLocks/>
          </p:cNvGrpSpPr>
          <p:nvPr/>
        </p:nvGrpSpPr>
        <p:grpSpPr bwMode="auto">
          <a:xfrm>
            <a:off x="4038600" y="4114800"/>
            <a:ext cx="457200" cy="304800"/>
            <a:chOff x="4464" y="3600"/>
            <a:chExt cx="288" cy="192"/>
          </a:xfrm>
        </p:grpSpPr>
        <p:sp>
          <p:nvSpPr>
            <p:cNvPr id="76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3</a:t>
              </a:r>
            </a:p>
          </p:txBody>
        </p:sp>
      </p:grpSp>
      <p:sp>
        <p:nvSpPr>
          <p:cNvPr id="78" name="Slide Number Placeholder 7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Doubly-linked List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1144587"/>
          </a:xfrm>
        </p:spPr>
        <p:txBody>
          <a:bodyPr>
            <a:normAutofit fontScale="85000" lnSpcReduction="20000"/>
          </a:bodyPr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newNode-&gt;setNext( current-&gt;getNext()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newNode-&gt;setprev( current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(current-&gt;getNext())-&gt;setPrev(newNode);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current-&gt;setNext( newNode );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current = newNode;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800" b="1">
                <a:latin typeface="Courier New" pitchFamily="49" charset="0"/>
              </a:rPr>
              <a:t>size++;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7072313" y="3517900"/>
            <a:ext cx="776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size=6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7494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2206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22828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1901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25876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30448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31210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2740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34258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38830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>
            <a:off x="3733800" y="3625850"/>
            <a:ext cx="225425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3578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42640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47212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47974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4416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7" name="Rectangle 21"/>
          <p:cNvSpPr>
            <a:spLocks noChangeArrowheads="1"/>
          </p:cNvSpPr>
          <p:nvPr/>
        </p:nvSpPr>
        <p:spPr bwMode="auto">
          <a:xfrm>
            <a:off x="5102225" y="35496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>
            <a:off x="55594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>
            <a:off x="5635625" y="362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>
            <a:off x="5254625" y="35496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2719388" y="35496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2</a:t>
            </a:r>
          </a:p>
        </p:txBody>
      </p:sp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3557588" y="3549650"/>
            <a:ext cx="249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6</a:t>
            </a:r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4416425" y="35496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8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5254625" y="3549650"/>
            <a:ext cx="325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7</a:t>
            </a:r>
          </a:p>
        </p:txBody>
      </p:sp>
      <p:sp>
        <p:nvSpPr>
          <p:cNvPr id="24605" name="Line 29"/>
          <p:cNvSpPr>
            <a:spLocks noChangeShapeType="1"/>
          </p:cNvSpPr>
          <p:nvPr/>
        </p:nvSpPr>
        <p:spPr bwMode="auto">
          <a:xfrm rot="409544" flipH="1">
            <a:off x="1749425" y="354965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900113" y="3517900"/>
            <a:ext cx="849312" cy="336550"/>
            <a:chOff x="809" y="2380"/>
            <a:chExt cx="535" cy="212"/>
          </a:xfrm>
        </p:grpSpPr>
        <p:sp>
          <p:nvSpPr>
            <p:cNvPr id="24640" name="Text Box 31"/>
            <p:cNvSpPr txBox="1">
              <a:spLocks noChangeArrowheads="1"/>
            </p:cNvSpPr>
            <p:nvPr/>
          </p:nvSpPr>
          <p:spPr bwMode="auto">
            <a:xfrm>
              <a:off x="809" y="2380"/>
              <a:ext cx="40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head</a:t>
              </a:r>
            </a:p>
          </p:txBody>
        </p:sp>
        <p:sp>
          <p:nvSpPr>
            <p:cNvPr id="24641" name="Line 32"/>
            <p:cNvSpPr>
              <a:spLocks noChangeShapeType="1"/>
            </p:cNvSpPr>
            <p:nvPr/>
          </p:nvSpPr>
          <p:spPr bwMode="auto">
            <a:xfrm>
              <a:off x="1200" y="24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07" name="Text Box 33"/>
          <p:cNvSpPr txBox="1">
            <a:spLocks noChangeArrowheads="1"/>
          </p:cNvSpPr>
          <p:nvPr/>
        </p:nvSpPr>
        <p:spPr bwMode="auto">
          <a:xfrm>
            <a:off x="3297238" y="5073650"/>
            <a:ext cx="8175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current</a:t>
            </a:r>
          </a:p>
        </p:txBody>
      </p:sp>
      <p:sp>
        <p:nvSpPr>
          <p:cNvPr id="24608" name="Line 34"/>
          <p:cNvSpPr>
            <a:spLocks noChangeShapeType="1"/>
          </p:cNvSpPr>
          <p:nvPr/>
        </p:nvSpPr>
        <p:spPr bwMode="auto">
          <a:xfrm flipV="1">
            <a:off x="3730625" y="47688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09" name="Line 35"/>
          <p:cNvSpPr>
            <a:spLocks noChangeShapeType="1"/>
          </p:cNvSpPr>
          <p:nvPr/>
        </p:nvSpPr>
        <p:spPr bwMode="auto">
          <a:xfrm flipH="1">
            <a:off x="23590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610" name="Line 36"/>
          <p:cNvSpPr>
            <a:spLocks noChangeShapeType="1"/>
          </p:cNvSpPr>
          <p:nvPr/>
        </p:nvSpPr>
        <p:spPr bwMode="auto">
          <a:xfrm flipH="1">
            <a:off x="31972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611" name="Line 37"/>
          <p:cNvSpPr>
            <a:spLocks noChangeShapeType="1"/>
          </p:cNvSpPr>
          <p:nvPr/>
        </p:nvSpPr>
        <p:spPr bwMode="auto">
          <a:xfrm flipH="1">
            <a:off x="48736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612" name="Line 38"/>
          <p:cNvSpPr>
            <a:spLocks noChangeShapeType="1"/>
          </p:cNvSpPr>
          <p:nvPr/>
        </p:nvSpPr>
        <p:spPr bwMode="auto">
          <a:xfrm flipH="1">
            <a:off x="5711825" y="3778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940425" y="3549650"/>
            <a:ext cx="609600" cy="336550"/>
            <a:chOff x="3646" y="2496"/>
            <a:chExt cx="384" cy="212"/>
          </a:xfrm>
        </p:grpSpPr>
        <p:sp>
          <p:nvSpPr>
            <p:cNvPr id="24635" name="Rectangle 40"/>
            <p:cNvSpPr>
              <a:spLocks noChangeArrowheads="1"/>
            </p:cNvSpPr>
            <p:nvPr/>
          </p:nvSpPr>
          <p:spPr bwMode="auto">
            <a:xfrm>
              <a:off x="3646" y="2496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6" name="Line 41"/>
            <p:cNvSpPr>
              <a:spLocks noChangeShapeType="1"/>
            </p:cNvSpPr>
            <p:nvPr/>
          </p:nvSpPr>
          <p:spPr bwMode="auto">
            <a:xfrm>
              <a:off x="393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7" name="Line 42"/>
            <p:cNvSpPr>
              <a:spLocks noChangeShapeType="1"/>
            </p:cNvSpPr>
            <p:nvPr/>
          </p:nvSpPr>
          <p:spPr bwMode="auto">
            <a:xfrm>
              <a:off x="374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38" name="Text Box 43"/>
            <p:cNvSpPr txBox="1">
              <a:spLocks noChangeArrowheads="1"/>
            </p:cNvSpPr>
            <p:nvPr/>
          </p:nvSpPr>
          <p:spPr bwMode="auto">
            <a:xfrm>
              <a:off x="3742" y="2496"/>
              <a:ext cx="1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latin typeface="Helvetica" pitchFamily="34" charset="0"/>
                </a:rPr>
                <a:t>1</a:t>
              </a:r>
            </a:p>
          </p:txBody>
        </p:sp>
        <p:sp>
          <p:nvSpPr>
            <p:cNvPr id="24639" name="Line 44"/>
            <p:cNvSpPr>
              <a:spLocks noChangeShapeType="1"/>
            </p:cNvSpPr>
            <p:nvPr/>
          </p:nvSpPr>
          <p:spPr bwMode="auto">
            <a:xfrm rot="409544" flipH="1">
              <a:off x="3934" y="249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14" name="Rectangle 45"/>
          <p:cNvSpPr>
            <a:spLocks noChangeArrowheads="1"/>
          </p:cNvSpPr>
          <p:nvPr/>
        </p:nvSpPr>
        <p:spPr bwMode="auto">
          <a:xfrm>
            <a:off x="3429000" y="445135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5" name="Line 46"/>
          <p:cNvSpPr>
            <a:spLocks noChangeShapeType="1"/>
          </p:cNvSpPr>
          <p:nvPr/>
        </p:nvSpPr>
        <p:spPr bwMode="auto">
          <a:xfrm>
            <a:off x="38862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6" name="Line 47"/>
          <p:cNvSpPr>
            <a:spLocks noChangeShapeType="1"/>
          </p:cNvSpPr>
          <p:nvPr/>
        </p:nvSpPr>
        <p:spPr bwMode="auto">
          <a:xfrm>
            <a:off x="3581400" y="4451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7" name="Text Box 48"/>
          <p:cNvSpPr txBox="1">
            <a:spLocks noChangeArrowheads="1"/>
          </p:cNvSpPr>
          <p:nvPr/>
        </p:nvSpPr>
        <p:spPr bwMode="auto">
          <a:xfrm>
            <a:off x="3581400" y="445135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9</a:t>
            </a:r>
          </a:p>
        </p:txBody>
      </p:sp>
      <p:sp>
        <p:nvSpPr>
          <p:cNvPr id="24618" name="Text Box 49"/>
          <p:cNvSpPr txBox="1">
            <a:spLocks noChangeArrowheads="1"/>
          </p:cNvSpPr>
          <p:nvPr/>
        </p:nvSpPr>
        <p:spPr bwMode="auto">
          <a:xfrm>
            <a:off x="1905000" y="4419600"/>
            <a:ext cx="1038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Helvetica" pitchFamily="34" charset="0"/>
              </a:rPr>
              <a:t>newNode</a:t>
            </a:r>
          </a:p>
        </p:txBody>
      </p:sp>
      <p:sp>
        <p:nvSpPr>
          <p:cNvPr id="24619" name="Line 50"/>
          <p:cNvSpPr>
            <a:spLocks noChangeShapeType="1"/>
          </p:cNvSpPr>
          <p:nvPr/>
        </p:nvSpPr>
        <p:spPr bwMode="auto">
          <a:xfrm>
            <a:off x="2895600" y="46037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24" name="Line 63"/>
          <p:cNvSpPr>
            <a:spLocks noChangeShapeType="1"/>
          </p:cNvSpPr>
          <p:nvPr/>
        </p:nvSpPr>
        <p:spPr bwMode="auto">
          <a:xfrm flipV="1">
            <a:off x="3505200" y="38544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25" name="Freeform 64"/>
          <p:cNvSpPr>
            <a:spLocks/>
          </p:cNvSpPr>
          <p:nvPr/>
        </p:nvSpPr>
        <p:spPr bwMode="auto">
          <a:xfrm>
            <a:off x="3962400" y="3854450"/>
            <a:ext cx="762000" cy="838200"/>
          </a:xfrm>
          <a:custGeom>
            <a:avLst/>
            <a:gdLst>
              <a:gd name="T0" fmla="*/ 0 w 384"/>
              <a:gd name="T1" fmla="*/ 480 h 480"/>
              <a:gd name="T2" fmla="*/ 288 w 384"/>
              <a:gd name="T3" fmla="*/ 432 h 480"/>
              <a:gd name="T4" fmla="*/ 384 w 384"/>
              <a:gd name="T5" fmla="*/ 0 h 480"/>
              <a:gd name="T6" fmla="*/ 0 60000 65536"/>
              <a:gd name="T7" fmla="*/ 0 60000 65536"/>
              <a:gd name="T8" fmla="*/ 0 60000 65536"/>
              <a:gd name="T9" fmla="*/ 0 w 384"/>
              <a:gd name="T10" fmla="*/ 0 h 480"/>
              <a:gd name="T11" fmla="*/ 384 w 38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480">
                <a:moveTo>
                  <a:pt x="0" y="480"/>
                </a:moveTo>
                <a:lnTo>
                  <a:pt x="288" y="432"/>
                </a:lnTo>
                <a:lnTo>
                  <a:pt x="38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26" name="Freeform 65"/>
          <p:cNvSpPr>
            <a:spLocks/>
          </p:cNvSpPr>
          <p:nvPr/>
        </p:nvSpPr>
        <p:spPr bwMode="auto">
          <a:xfrm>
            <a:off x="3886200" y="3778250"/>
            <a:ext cx="457200" cy="685800"/>
          </a:xfrm>
          <a:custGeom>
            <a:avLst/>
            <a:gdLst>
              <a:gd name="T0" fmla="*/ 288 w 288"/>
              <a:gd name="T1" fmla="*/ 0 h 432"/>
              <a:gd name="T2" fmla="*/ 240 w 288"/>
              <a:gd name="T3" fmla="*/ 288 h 432"/>
              <a:gd name="T4" fmla="*/ 0 w 288"/>
              <a:gd name="T5" fmla="*/ 432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288" y="0"/>
                </a:moveTo>
                <a:lnTo>
                  <a:pt x="240" y="288"/>
                </a:lnTo>
                <a:lnTo>
                  <a:pt x="0" y="4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6" name="Group 40"/>
          <p:cNvGrpSpPr>
            <a:grpSpLocks/>
          </p:cNvGrpSpPr>
          <p:nvPr/>
        </p:nvGrpSpPr>
        <p:grpSpPr bwMode="auto">
          <a:xfrm>
            <a:off x="4343400" y="4419600"/>
            <a:ext cx="457200" cy="304800"/>
            <a:chOff x="4464" y="3600"/>
            <a:chExt cx="288" cy="192"/>
          </a:xfrm>
        </p:grpSpPr>
        <p:sp>
          <p:nvSpPr>
            <p:cNvPr id="67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1</a:t>
              </a:r>
            </a:p>
          </p:txBody>
        </p:sp>
      </p:grpSp>
      <p:grpSp>
        <p:nvGrpSpPr>
          <p:cNvPr id="69" name="Group 40"/>
          <p:cNvGrpSpPr>
            <a:grpSpLocks/>
          </p:cNvGrpSpPr>
          <p:nvPr/>
        </p:nvGrpSpPr>
        <p:grpSpPr bwMode="auto">
          <a:xfrm>
            <a:off x="3124200" y="4038600"/>
            <a:ext cx="457200" cy="304800"/>
            <a:chOff x="4464" y="3600"/>
            <a:chExt cx="288" cy="192"/>
          </a:xfrm>
        </p:grpSpPr>
        <p:sp>
          <p:nvSpPr>
            <p:cNvPr id="70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2</a:t>
              </a:r>
            </a:p>
          </p:txBody>
        </p:sp>
      </p:grpSp>
      <p:grpSp>
        <p:nvGrpSpPr>
          <p:cNvPr id="72" name="Group 40"/>
          <p:cNvGrpSpPr>
            <a:grpSpLocks/>
          </p:cNvGrpSpPr>
          <p:nvPr/>
        </p:nvGrpSpPr>
        <p:grpSpPr bwMode="auto">
          <a:xfrm>
            <a:off x="3657600" y="3962400"/>
            <a:ext cx="457200" cy="304800"/>
            <a:chOff x="4464" y="3600"/>
            <a:chExt cx="288" cy="192"/>
          </a:xfrm>
        </p:grpSpPr>
        <p:sp>
          <p:nvSpPr>
            <p:cNvPr id="73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4</a:t>
              </a:r>
            </a:p>
          </p:txBody>
        </p:sp>
      </p:grpSp>
      <p:grpSp>
        <p:nvGrpSpPr>
          <p:cNvPr id="75" name="Group 40"/>
          <p:cNvGrpSpPr>
            <a:grpSpLocks/>
          </p:cNvGrpSpPr>
          <p:nvPr/>
        </p:nvGrpSpPr>
        <p:grpSpPr bwMode="auto">
          <a:xfrm>
            <a:off x="4114800" y="4038600"/>
            <a:ext cx="457200" cy="304800"/>
            <a:chOff x="4464" y="3600"/>
            <a:chExt cx="288" cy="192"/>
          </a:xfrm>
        </p:grpSpPr>
        <p:sp>
          <p:nvSpPr>
            <p:cNvPr id="76" name="Oval 41"/>
            <p:cNvSpPr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Text Box 42"/>
            <p:cNvSpPr txBox="1">
              <a:spLocks noChangeArrowheads="1"/>
            </p:cNvSpPr>
            <p:nvPr/>
          </p:nvSpPr>
          <p:spPr bwMode="auto">
            <a:xfrm>
              <a:off x="4464" y="360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400" dirty="0">
                  <a:solidFill>
                    <a:srgbClr val="800000"/>
                  </a:solidFill>
                  <a:latin typeface="Helvetica" pitchFamily="34" charset="0"/>
                </a:rPr>
                <a:t>3</a:t>
              </a:r>
            </a:p>
          </p:txBody>
        </p:sp>
      </p:grpSp>
      <p:sp>
        <p:nvSpPr>
          <p:cNvPr id="78" name="Slide Number Placeholder 7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9E24-EC16-44A4-AE87-BD55817FAFD8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2673</Words>
  <Application>Microsoft Office PowerPoint</Application>
  <PresentationFormat>On-screen Show (4:3)</PresentationFormat>
  <Paragraphs>673</Paragraphs>
  <Slides>48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Linked List</vt:lpstr>
      <vt:lpstr>Linked List</vt:lpstr>
      <vt:lpstr> Link List  </vt:lpstr>
      <vt:lpstr>Linked List</vt:lpstr>
      <vt:lpstr>Operations on Linked List: </vt:lpstr>
      <vt:lpstr>PowerPoint Presentation</vt:lpstr>
      <vt:lpstr>PowerPoint Presentation</vt:lpstr>
      <vt:lpstr>PowerPoint Presentation</vt:lpstr>
      <vt:lpstr>PowerPoint Presentation</vt:lpstr>
      <vt:lpstr>                           </vt:lpstr>
      <vt:lpstr>PowerPoint Presentation</vt:lpstr>
      <vt:lpstr>PowerPoint Presentation</vt:lpstr>
      <vt:lpstr>PowerPoint Presentation</vt:lpstr>
      <vt:lpstr>Linked List Operations</vt:lpstr>
      <vt:lpstr>Linked List Operations</vt:lpstr>
      <vt:lpstr>C++ Code for Linked List</vt:lpstr>
      <vt:lpstr>C++ Code for Linked List</vt:lpstr>
      <vt:lpstr>C++ Code for Linked List</vt:lpstr>
      <vt:lpstr>Building a Linked List</vt:lpstr>
      <vt:lpstr>Building a Linked List</vt:lpstr>
      <vt:lpstr>Building a Linked List</vt:lpstr>
      <vt:lpstr>Building a Linked List</vt:lpstr>
      <vt:lpstr>Insertion at the beginning of a List</vt:lpstr>
      <vt:lpstr>PowerPoint Presentation</vt:lpstr>
      <vt:lpstr>PowerPoint Presentation</vt:lpstr>
      <vt:lpstr>PowerPoint Presentation</vt:lpstr>
      <vt:lpstr>PowerPoint Presentation</vt:lpstr>
      <vt:lpstr>C++ Code for Linked List</vt:lpstr>
      <vt:lpstr>C++ Code for Linked List</vt:lpstr>
      <vt:lpstr>Deletion from a Link List</vt:lpstr>
      <vt:lpstr>C++ Code for Linked List</vt:lpstr>
      <vt:lpstr>C++ Code for Linked List</vt:lpstr>
      <vt:lpstr>C++ Code for Linked List</vt:lpstr>
      <vt:lpstr>PowerPoint Presentation</vt:lpstr>
      <vt:lpstr>C++ Code for Linked List</vt:lpstr>
      <vt:lpstr>Example of List Usage</vt:lpstr>
      <vt:lpstr>Analysis of Linked List</vt:lpstr>
      <vt:lpstr>Two-Way or Doubly-linked List</vt:lpstr>
      <vt:lpstr>Doubly-Linked List Node</vt:lpstr>
      <vt:lpstr>Doubly-linked List </vt:lpstr>
      <vt:lpstr>PowerPoint Presentation</vt:lpstr>
      <vt:lpstr>PowerPoint Presentation</vt:lpstr>
      <vt:lpstr>Insertion in Doubly-linked List </vt:lpstr>
      <vt:lpstr>Doubly-linked List </vt:lpstr>
      <vt:lpstr>Doubly-linked List </vt:lpstr>
      <vt:lpstr>Doubly-linked List </vt:lpstr>
      <vt:lpstr>Doubly-linked List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Digitec Comp</dc:creator>
  <cp:lastModifiedBy>Aleena Batool</cp:lastModifiedBy>
  <cp:revision>81</cp:revision>
  <dcterms:created xsi:type="dcterms:W3CDTF">2015-01-19T17:51:38Z</dcterms:created>
  <dcterms:modified xsi:type="dcterms:W3CDTF">2025-09-29T05:51:57Z</dcterms:modified>
</cp:coreProperties>
</file>