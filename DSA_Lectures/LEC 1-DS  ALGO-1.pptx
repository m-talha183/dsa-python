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73" r:id="rId2"/>
    <p:sldId id="279" r:id="rId3"/>
    <p:sldId id="335" r:id="rId4"/>
    <p:sldId id="286" r:id="rId5"/>
    <p:sldId id="287" r:id="rId6"/>
    <p:sldId id="336" r:id="rId7"/>
    <p:sldId id="337" r:id="rId8"/>
    <p:sldId id="338" r:id="rId9"/>
    <p:sldId id="339" r:id="rId10"/>
    <p:sldId id="340" r:id="rId11"/>
    <p:sldId id="341" r:id="rId12"/>
    <p:sldId id="342" r:id="rId13"/>
    <p:sldId id="343" r:id="rId14"/>
    <p:sldId id="344" r:id="rId15"/>
    <p:sldId id="345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17" autoAdjust="0"/>
    <p:restoredTop sz="94660"/>
  </p:normalViewPr>
  <p:slideViewPr>
    <p:cSldViewPr>
      <p:cViewPr varScale="1">
        <p:scale>
          <a:sx n="69" d="100"/>
          <a:sy n="69" d="100"/>
        </p:scale>
        <p:origin x="-54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handoutMaster" Target="handoutMasters/handoutMaster1.xml" /><Relationship Id="rId3" Type="http://schemas.openxmlformats.org/officeDocument/2006/relationships/slide" Target="slides/slide2.xml" /><Relationship Id="rId21" Type="http://schemas.openxmlformats.org/officeDocument/2006/relationships/theme" Target="theme/theme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notesMaster" Target="notesMasters/notesMaster1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tableStyles" Target="tableStyles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EFC2E0-676D-4D71-9009-5B97D526303C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097939-3ECC-40EF-9A57-6254A53DA54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36A650-43C2-4151-AD0B-391B6769B612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E97079-464A-407D-91E5-9F6D76D438F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95CE94B-20DB-4728-8C78-8A9E743FD855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9636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68E990E-7704-428F-8141-05A2C044CA99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5780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CD25D09-BFFB-4B39-814E-689711BE0EC6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2948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1BE71D6-787D-4739-99D1-DC21F5C1D05E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3972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DBDB25-0532-4C4F-B373-AD1A3CBEB9F2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17E3E-C666-41B1-8712-793452C674A7}" type="datetime1">
              <a:rPr lang="en-US" smtClean="0"/>
              <a:pPr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C15C1-C056-4061-9E53-681186A5AF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E373E-44E6-4A80-B4D2-6A659DA87FF7}" type="datetime1">
              <a:rPr lang="en-US" smtClean="0"/>
              <a:pPr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C15C1-C056-4061-9E53-681186A5AF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B9E13-02E3-46B0-A7EC-0780CCE2312F}" type="datetime1">
              <a:rPr lang="en-US" smtClean="0"/>
              <a:pPr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C15C1-C056-4061-9E53-681186A5AF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EF906-06C4-4592-B5F2-1F9FCDA39578}" type="datetime1">
              <a:rPr lang="en-US" smtClean="0"/>
              <a:pPr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C15C1-C056-4061-9E53-681186A5AF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20059-97B3-4963-986D-86F23F75C5DE}" type="datetime1">
              <a:rPr lang="en-US" smtClean="0"/>
              <a:pPr/>
              <a:t>10/6/2025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C15C1-C056-4061-9E53-681186A5AF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23D04-43FA-4DCC-B6D0-7C215278C26A}" type="datetime1">
              <a:rPr lang="en-US" smtClean="0"/>
              <a:pPr/>
              <a:t>10/6/2025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C15C1-C056-4061-9E53-681186A5AF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E94A3-B0F4-4C66-AB6B-FBC319E381C5}" type="datetime1">
              <a:rPr lang="en-US" smtClean="0"/>
              <a:pPr/>
              <a:t>10/6/2025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C15C1-C056-4061-9E53-681186A5AF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1390F-7761-4D99-A2C5-3CCB31D3CE64}" type="datetime1">
              <a:rPr lang="en-US" smtClean="0"/>
              <a:pPr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C15C1-C056-4061-9E53-681186A5AF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F7879-9AA2-4E6C-BDE0-D691B4302250}" type="datetime1">
              <a:rPr lang="en-US" smtClean="0"/>
              <a:pPr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C15C1-C056-4061-9E53-681186A5AF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86C61-69CA-4FB8-91FF-95845AEE1D74}" type="datetime1">
              <a:rPr lang="en-US" smtClean="0"/>
              <a:pPr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C15C1-C056-4061-9E53-681186A5AF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ACDA4-2FBE-465C-9B38-16B854BF6DB7}" type="datetime1">
              <a:rPr lang="en-US" smtClean="0"/>
              <a:pPr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C15C1-C056-4061-9E53-681186A5AF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CD7507-849B-44B8-A7AD-C6B3ECBF390A}" type="datetime1">
              <a:rPr lang="en-US" smtClean="0"/>
              <a:pPr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FC15C1-C056-4061-9E53-681186A5AF2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6.png" /><Relationship Id="rId5" Type="http://schemas.openxmlformats.org/officeDocument/2006/relationships/image" Target="../media/image5.png" /><Relationship Id="rId4" Type="http://schemas.openxmlformats.org/officeDocument/2006/relationships/image" Target="../media/image4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3.xml" /><Relationship Id="rId4" Type="http://schemas.openxmlformats.org/officeDocument/2006/relationships/image" Target="../media/image9.pn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 /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13.png" /><Relationship Id="rId4" Type="http://schemas.openxmlformats.org/officeDocument/2006/relationships/image" Target="../media/image12.pn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 /><Relationship Id="rId2" Type="http://schemas.openxmlformats.org/officeDocument/2006/relationships/image" Target="../media/image14.pn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16.png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 /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 /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20.png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 /><Relationship Id="rId2" Type="http://schemas.openxmlformats.org/officeDocument/2006/relationships/image" Target="../media/image21.pn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>
                <a:latin typeface="Helvetica" pitchFamily="34" charset="0"/>
              </a:rPr>
              <a:t>Selecting a Data Structure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455613" y="1598613"/>
            <a:ext cx="8226425" cy="4570412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buFontTx/>
              <a:buNone/>
            </a:pPr>
            <a:r>
              <a:rPr lang="en-US">
                <a:latin typeface="Helvetica" pitchFamily="34" charset="0"/>
              </a:rPr>
              <a:t>Select a data structure as follows:</a:t>
            </a:r>
          </a:p>
          <a:p>
            <a:pPr marL="533400" indent="-533400" eaLnBrk="1" hangingPunct="1">
              <a:lnSpc>
                <a:spcPct val="90000"/>
              </a:lnSpc>
              <a:buFontTx/>
              <a:buAutoNum type="arabicPeriod"/>
            </a:pPr>
            <a:r>
              <a:rPr lang="en-US">
                <a:latin typeface="Helvetica" pitchFamily="34" charset="0"/>
              </a:rPr>
              <a:t>Analyze the problem to determine the resource constraints a solution must meet.</a:t>
            </a:r>
          </a:p>
          <a:p>
            <a:pPr marL="533400" indent="-533400" eaLnBrk="1" hangingPunct="1">
              <a:lnSpc>
                <a:spcPct val="90000"/>
              </a:lnSpc>
              <a:buFontTx/>
              <a:buAutoNum type="arabicPeriod"/>
            </a:pPr>
            <a:r>
              <a:rPr lang="en-US">
                <a:latin typeface="Helvetica" pitchFamily="34" charset="0"/>
              </a:rPr>
              <a:t>Determine the basic operations that must be supported.  Quantify the resource constraints for each operation.</a:t>
            </a:r>
          </a:p>
          <a:p>
            <a:pPr marL="533400" indent="-533400" eaLnBrk="1" hangingPunct="1">
              <a:lnSpc>
                <a:spcPct val="90000"/>
              </a:lnSpc>
              <a:buFontTx/>
              <a:buAutoNum type="arabicPeriod"/>
            </a:pPr>
            <a:r>
              <a:rPr lang="en-US">
                <a:latin typeface="Helvetica" pitchFamily="34" charset="0"/>
              </a:rPr>
              <a:t>Select the data structure that best meets these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C15C1-C056-4061-9E53-681186A5AF22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>
                <a:latin typeface="Helvetica" pitchFamily="34" charset="0"/>
              </a:rPr>
              <a:t>Data Structure Philosophy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455613" y="1598613"/>
            <a:ext cx="8226425" cy="4570412"/>
          </a:xfrm>
        </p:spPr>
        <p:txBody>
          <a:bodyPr/>
          <a:lstStyle/>
          <a:p>
            <a:pPr eaLnBrk="1" hangingPunct="1">
              <a:buFont typeface="Wingdings" pitchFamily="2" charset="2"/>
              <a:buChar char="§"/>
            </a:pPr>
            <a:r>
              <a:rPr lang="en-US" dirty="0">
                <a:latin typeface="Helvetica" pitchFamily="34" charset="0"/>
              </a:rPr>
              <a:t>Each data structure has costs and benefits.</a:t>
            </a:r>
          </a:p>
          <a:p>
            <a:pPr eaLnBrk="1" hangingPunct="1">
              <a:buFont typeface="Wingdings" pitchFamily="2" charset="2"/>
              <a:buChar char="§"/>
            </a:pPr>
            <a:r>
              <a:rPr lang="en-US" dirty="0">
                <a:latin typeface="Helvetica" pitchFamily="34" charset="0"/>
              </a:rPr>
              <a:t>Rarely is one data structure better than another in all situations.</a:t>
            </a:r>
          </a:p>
          <a:p>
            <a:pPr eaLnBrk="1" hangingPunct="1">
              <a:buFont typeface="Wingdings" pitchFamily="2" charset="2"/>
              <a:buChar char="§"/>
            </a:pPr>
            <a:r>
              <a:rPr lang="en-US" dirty="0">
                <a:latin typeface="Helvetica" pitchFamily="34" charset="0"/>
              </a:rPr>
              <a:t>A data structure requires:</a:t>
            </a:r>
          </a:p>
          <a:p>
            <a:pPr lvl="1" eaLnBrk="1" hangingPunct="1"/>
            <a:r>
              <a:rPr lang="en-US" dirty="0">
                <a:latin typeface="Helvetica" pitchFamily="34" charset="0"/>
              </a:rPr>
              <a:t>space for each data item it stores,</a:t>
            </a:r>
          </a:p>
          <a:p>
            <a:pPr lvl="1" eaLnBrk="1" hangingPunct="1"/>
            <a:r>
              <a:rPr lang="en-US" dirty="0">
                <a:latin typeface="Helvetica" pitchFamily="34" charset="0"/>
              </a:rPr>
              <a:t>time to perform each basic operation,</a:t>
            </a:r>
          </a:p>
          <a:p>
            <a:pPr lvl="1" eaLnBrk="1" hangingPunct="1"/>
            <a:r>
              <a:rPr lang="en-US" dirty="0">
                <a:latin typeface="Helvetica" pitchFamily="34" charset="0"/>
              </a:rPr>
              <a:t>programming effort.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C15C1-C056-4061-9E53-681186A5AF22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1057274"/>
            <a:ext cx="8534400" cy="481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C15C1-C056-4061-9E53-681186A5AF22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pPr eaLnBrk="1" hangingPunct="1"/>
            <a:r>
              <a:rPr lang="en-US">
                <a:latin typeface="Helvetica" pitchFamily="34" charset="0"/>
              </a:rPr>
              <a:t>Arrays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455613" y="1598613"/>
            <a:ext cx="8226425" cy="4570412"/>
          </a:xfrm>
        </p:spPr>
        <p:txBody>
          <a:bodyPr/>
          <a:lstStyle/>
          <a:p>
            <a:pPr marL="533400" indent="-533400" eaLnBrk="1" hangingPunct="1">
              <a:buFont typeface="Wingdings" pitchFamily="2" charset="2"/>
              <a:buChar char="§"/>
            </a:pPr>
            <a:r>
              <a:rPr lang="en-US" sz="2800">
                <a:latin typeface="Helvetica" pitchFamily="34" charset="0"/>
              </a:rPr>
              <a:t>Array declaration:  int x[6];</a:t>
            </a:r>
          </a:p>
          <a:p>
            <a:pPr marL="533400" indent="-533400" eaLnBrk="1" hangingPunct="1">
              <a:buFont typeface="Wingdings" pitchFamily="2" charset="2"/>
              <a:buChar char="§"/>
            </a:pPr>
            <a:r>
              <a:rPr lang="en-US" sz="2800">
                <a:latin typeface="Helvetica" pitchFamily="34" charset="0"/>
              </a:rPr>
              <a:t>An array is collection of cells of the same type.</a:t>
            </a:r>
          </a:p>
          <a:p>
            <a:pPr marL="533400" indent="-533400" eaLnBrk="1" hangingPunct="1">
              <a:buFont typeface="Wingdings" pitchFamily="2" charset="2"/>
              <a:buChar char="§"/>
            </a:pPr>
            <a:r>
              <a:rPr lang="en-US" sz="2800">
                <a:latin typeface="Helvetica" pitchFamily="34" charset="0"/>
              </a:rPr>
              <a:t>The collection has the name ‘x’.</a:t>
            </a:r>
          </a:p>
          <a:p>
            <a:pPr marL="533400" indent="-533400" eaLnBrk="1" hangingPunct="1">
              <a:buFont typeface="Wingdings" pitchFamily="2" charset="2"/>
              <a:buChar char="§"/>
            </a:pPr>
            <a:r>
              <a:rPr lang="en-US" sz="2800">
                <a:latin typeface="Helvetica" pitchFamily="34" charset="0"/>
              </a:rPr>
              <a:t>The cells are numbered with consecutive integers.</a:t>
            </a:r>
          </a:p>
          <a:p>
            <a:pPr marL="533400" indent="-533400" eaLnBrk="1" hangingPunct="1">
              <a:buFont typeface="Wingdings" pitchFamily="2" charset="2"/>
              <a:buChar char="§"/>
            </a:pPr>
            <a:r>
              <a:rPr lang="en-US" sz="2800">
                <a:latin typeface="Helvetica" pitchFamily="34" charset="0"/>
              </a:rPr>
              <a:t>To access a cell, use the array name and an index:</a:t>
            </a:r>
            <a:br>
              <a:rPr lang="en-US" sz="2800">
                <a:latin typeface="Helvetica" pitchFamily="34" charset="0"/>
              </a:rPr>
            </a:br>
            <a:r>
              <a:rPr lang="en-US" sz="2800">
                <a:latin typeface="Helvetica" pitchFamily="34" charset="0"/>
              </a:rPr>
              <a:t>           x[0], x[1], x[2], x[3], x[4], x[5]</a:t>
            </a:r>
            <a:br>
              <a:rPr lang="en-US" sz="2800">
                <a:latin typeface="Helvetica" pitchFamily="34" charset="0"/>
              </a:rPr>
            </a:br>
            <a:endParaRPr lang="en-US" sz="280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C15C1-C056-4061-9E53-681186A5AF22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>
                <a:latin typeface="Helvetica" pitchFamily="34" charset="0"/>
              </a:rPr>
              <a:t>Array Layout (Linear-array)</a:t>
            </a:r>
          </a:p>
        </p:txBody>
      </p:sp>
      <p:sp>
        <p:nvSpPr>
          <p:cNvPr id="32771" name="Rectangle 4"/>
          <p:cNvSpPr>
            <a:spLocks noChangeArrowheads="1"/>
          </p:cNvSpPr>
          <p:nvPr/>
        </p:nvSpPr>
        <p:spPr bwMode="auto">
          <a:xfrm>
            <a:off x="5105400" y="1524000"/>
            <a:ext cx="1981200" cy="37338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772" name="Line 5"/>
          <p:cNvSpPr>
            <a:spLocks noChangeShapeType="1"/>
          </p:cNvSpPr>
          <p:nvPr/>
        </p:nvSpPr>
        <p:spPr bwMode="auto">
          <a:xfrm>
            <a:off x="5105400" y="3352800"/>
            <a:ext cx="19812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2773" name="Line 6"/>
          <p:cNvSpPr>
            <a:spLocks noChangeShapeType="1"/>
          </p:cNvSpPr>
          <p:nvPr/>
        </p:nvSpPr>
        <p:spPr bwMode="auto">
          <a:xfrm>
            <a:off x="5105400" y="2133600"/>
            <a:ext cx="19812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2774" name="Line 8"/>
          <p:cNvSpPr>
            <a:spLocks noChangeShapeType="1"/>
          </p:cNvSpPr>
          <p:nvPr/>
        </p:nvSpPr>
        <p:spPr bwMode="auto">
          <a:xfrm>
            <a:off x="5105400" y="2743200"/>
            <a:ext cx="19812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2775" name="Line 9"/>
          <p:cNvSpPr>
            <a:spLocks noChangeShapeType="1"/>
          </p:cNvSpPr>
          <p:nvPr/>
        </p:nvSpPr>
        <p:spPr bwMode="auto">
          <a:xfrm>
            <a:off x="5105400" y="4648200"/>
            <a:ext cx="19812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2776" name="Line 10"/>
          <p:cNvSpPr>
            <a:spLocks noChangeShapeType="1"/>
          </p:cNvSpPr>
          <p:nvPr/>
        </p:nvSpPr>
        <p:spPr bwMode="auto">
          <a:xfrm>
            <a:off x="5105400" y="4038600"/>
            <a:ext cx="19812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2777" name="Text Box 12"/>
          <p:cNvSpPr txBox="1">
            <a:spLocks noChangeArrowheads="1"/>
          </p:cNvSpPr>
          <p:nvPr/>
        </p:nvSpPr>
        <p:spPr bwMode="auto">
          <a:xfrm>
            <a:off x="7239000" y="2209800"/>
            <a:ext cx="5905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b="0">
                <a:latin typeface="Helvetica" pitchFamily="34" charset="0"/>
              </a:rPr>
              <a:t>x[1]</a:t>
            </a:r>
          </a:p>
        </p:txBody>
      </p:sp>
      <p:sp>
        <p:nvSpPr>
          <p:cNvPr id="32778" name="Text Box 13"/>
          <p:cNvSpPr txBox="1">
            <a:spLocks noChangeArrowheads="1"/>
          </p:cNvSpPr>
          <p:nvPr/>
        </p:nvSpPr>
        <p:spPr bwMode="auto">
          <a:xfrm>
            <a:off x="7239000" y="2819400"/>
            <a:ext cx="5905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b="0">
                <a:latin typeface="Helvetica" pitchFamily="34" charset="0"/>
              </a:rPr>
              <a:t>x[2]</a:t>
            </a:r>
          </a:p>
        </p:txBody>
      </p:sp>
      <p:sp>
        <p:nvSpPr>
          <p:cNvPr id="32779" name="Text Box 14"/>
          <p:cNvSpPr txBox="1">
            <a:spLocks noChangeArrowheads="1"/>
          </p:cNvSpPr>
          <p:nvPr/>
        </p:nvSpPr>
        <p:spPr bwMode="auto">
          <a:xfrm>
            <a:off x="7239000" y="3505200"/>
            <a:ext cx="5905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b="0">
                <a:latin typeface="Helvetica" pitchFamily="34" charset="0"/>
              </a:rPr>
              <a:t>x[3]</a:t>
            </a:r>
          </a:p>
        </p:txBody>
      </p:sp>
      <p:sp>
        <p:nvSpPr>
          <p:cNvPr id="32780" name="Text Box 15"/>
          <p:cNvSpPr txBox="1">
            <a:spLocks noChangeArrowheads="1"/>
          </p:cNvSpPr>
          <p:nvPr/>
        </p:nvSpPr>
        <p:spPr bwMode="auto">
          <a:xfrm>
            <a:off x="7239000" y="4114800"/>
            <a:ext cx="5905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b="0">
                <a:latin typeface="Helvetica" pitchFamily="34" charset="0"/>
              </a:rPr>
              <a:t>x[4]</a:t>
            </a:r>
          </a:p>
        </p:txBody>
      </p:sp>
      <p:sp>
        <p:nvSpPr>
          <p:cNvPr id="32781" name="Text Box 16"/>
          <p:cNvSpPr txBox="1">
            <a:spLocks noChangeArrowheads="1"/>
          </p:cNvSpPr>
          <p:nvPr/>
        </p:nvSpPr>
        <p:spPr bwMode="auto">
          <a:xfrm>
            <a:off x="7239000" y="4800600"/>
            <a:ext cx="5905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b="0">
                <a:latin typeface="Helvetica" pitchFamily="34" charset="0"/>
              </a:rPr>
              <a:t>x[5]</a:t>
            </a:r>
          </a:p>
        </p:txBody>
      </p:sp>
      <p:sp>
        <p:nvSpPr>
          <p:cNvPr id="32782" name="Text Box 20"/>
          <p:cNvSpPr txBox="1">
            <a:spLocks noChangeArrowheads="1"/>
          </p:cNvSpPr>
          <p:nvPr/>
        </p:nvSpPr>
        <p:spPr bwMode="auto">
          <a:xfrm>
            <a:off x="7239000" y="1600200"/>
            <a:ext cx="5905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b="0">
                <a:latin typeface="Helvetica" pitchFamily="34" charset="0"/>
              </a:rPr>
              <a:t>x[0]</a:t>
            </a:r>
          </a:p>
        </p:txBody>
      </p:sp>
      <p:sp>
        <p:nvSpPr>
          <p:cNvPr id="32783" name="Text Box 22"/>
          <p:cNvSpPr txBox="1">
            <a:spLocks noChangeArrowheads="1"/>
          </p:cNvSpPr>
          <p:nvPr/>
        </p:nvSpPr>
        <p:spPr bwMode="auto">
          <a:xfrm>
            <a:off x="838200" y="1905000"/>
            <a:ext cx="3581400" cy="2868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2800" b="0">
                <a:latin typeface="Helvetica" pitchFamily="34" charset="0"/>
              </a:rPr>
              <a:t>Array cells are contiguous in computer memory</a:t>
            </a:r>
          </a:p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2800" b="0">
                <a:latin typeface="Helvetica" pitchFamily="34" charset="0"/>
              </a:rPr>
              <a:t>The memory can be thought of as an array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C15C1-C056-4061-9E53-681186A5AF22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62800" y="1219200"/>
            <a:ext cx="1724025" cy="263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r>
              <a:rPr lang="en-US" dirty="0"/>
              <a:t>Linear(1-Dimensional Array)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42900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A linear array </a:t>
            </a:r>
            <a:r>
              <a:rPr lang="en-US" b="1" dirty="0"/>
              <a:t>A[8] consisting of numbers is pictured in following figure.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4343400"/>
            <a:ext cx="54102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4800" y="1295400"/>
            <a:ext cx="675322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4800" y="1600200"/>
            <a:ext cx="67818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04800" y="1905000"/>
            <a:ext cx="17335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C15C1-C056-4061-9E53-681186A5AF22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362075"/>
          </a:xfrm>
        </p:spPr>
        <p:txBody>
          <a:bodyPr/>
          <a:lstStyle/>
          <a:p>
            <a:pPr algn="ctr"/>
            <a:r>
              <a:rPr lang="en-US" dirty="0"/>
              <a:t>2-Dimensional Array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609600" y="4953000"/>
            <a:ext cx="7772400" cy="685800"/>
          </a:xfrm>
        </p:spPr>
        <p:txBody>
          <a:bodyPr>
            <a:normAutofit/>
          </a:bodyPr>
          <a:lstStyle/>
          <a:p>
            <a:pPr algn="ctr"/>
            <a:r>
              <a:rPr lang="en-US" sz="2200" b="1" dirty="0">
                <a:solidFill>
                  <a:schemeClr val="accent1">
                    <a:lumMod val="75000"/>
                  </a:schemeClr>
                </a:solidFill>
              </a:rPr>
              <a:t>SALES is the name given to the Array </a:t>
            </a:r>
          </a:p>
        </p:txBody>
      </p:sp>
      <p:pic>
        <p:nvPicPr>
          <p:cNvPr id="4099" name="Picture 3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381000" y="2133600"/>
            <a:ext cx="8229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4191000"/>
            <a:ext cx="8153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200" y="2971800"/>
            <a:ext cx="79724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C15C1-C056-4061-9E53-681186A5AF22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1676400"/>
            <a:ext cx="5905500" cy="290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5181600"/>
            <a:ext cx="8610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r>
              <a:rPr lang="en-US" dirty="0"/>
              <a:t>2-Dimensional Array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4800" y="5953990"/>
            <a:ext cx="6400800" cy="2944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705600" y="5943600"/>
            <a:ext cx="2209800" cy="3047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C15C1-C056-4061-9E53-681186A5AF22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24600" y="0"/>
            <a:ext cx="281940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990600"/>
            <a:ext cx="63246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868362"/>
          </a:xfrm>
        </p:spPr>
        <p:txBody>
          <a:bodyPr/>
          <a:lstStyle/>
          <a:p>
            <a:r>
              <a:rPr lang="en-US" dirty="0"/>
              <a:t>Link List</a:t>
            </a: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00200" y="4800600"/>
            <a:ext cx="6296025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C15C1-C056-4061-9E53-681186A5AF22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6750" y="1924050"/>
            <a:ext cx="7810500" cy="300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r>
              <a:rPr lang="en-US" dirty="0"/>
              <a:t>Tree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C15C1-C056-4061-9E53-681186A5AF22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838200"/>
            <a:ext cx="76962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C15C1-C056-4061-9E53-681186A5AF22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600200"/>
            <a:ext cx="91440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4343400"/>
            <a:ext cx="91440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381000" y="304800"/>
            <a:ext cx="8229600" cy="1143000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   Data Structure Operations</a:t>
            </a:r>
            <a:br>
              <a:rPr lang="en-US" dirty="0"/>
            </a:b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C15C1-C056-4061-9E53-681186A5AF22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z="3600"/>
              <a:t>Data Abstraction and Abstract Data Types (ADT)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/>
              <a:t>A data type is a template for objects and a set of operations that define the behavior of the objects ( or Instances) of that type.</a:t>
            </a:r>
          </a:p>
          <a:p>
            <a:pPr eaLnBrk="1" hangingPunct="1">
              <a:lnSpc>
                <a:spcPct val="90000"/>
              </a:lnSpc>
            </a:pPr>
            <a:r>
              <a:rPr lang="en-US" sz="2400"/>
              <a:t>An abstract Data Type (ADT) is a data type in which the implementation details are hidden and the user is concerned with the properties ( or behavior) of that type.</a:t>
            </a:r>
          </a:p>
          <a:p>
            <a:pPr eaLnBrk="1" hangingPunct="1">
              <a:lnSpc>
                <a:spcPct val="90000"/>
              </a:lnSpc>
            </a:pPr>
            <a:r>
              <a:rPr lang="en-US" sz="2400"/>
              <a:t>An ADT has two components: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/>
              <a:t>	- Interface (the behavior)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/>
              <a:t>	- Implementation</a:t>
            </a:r>
          </a:p>
          <a:p>
            <a:pPr eaLnBrk="1" hangingPunct="1">
              <a:lnSpc>
                <a:spcPct val="90000"/>
              </a:lnSpc>
            </a:pPr>
            <a:r>
              <a:rPr lang="en-US" sz="2400"/>
              <a:t>Example: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/>
              <a:t>	- int, float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C15C1-C056-4061-9E53-681186A5AF22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4"/>
          <p:cNvSpPr>
            <a:spLocks noChangeArrowheads="1"/>
          </p:cNvSpPr>
          <p:nvPr/>
        </p:nvSpPr>
        <p:spPr bwMode="auto">
          <a:xfrm>
            <a:off x="4876800" y="1676400"/>
            <a:ext cx="3960813" cy="2819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>
                <a:latin typeface="Times New Roman" pitchFamily="18" charset="0"/>
              </a:rPr>
              <a:t>    Implementation</a:t>
            </a:r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Abstract Data Type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42672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/>
              <a:t>The data structures used to implement the data type can only be accessed through the interface.</a:t>
            </a:r>
          </a:p>
          <a:p>
            <a:pPr eaLnBrk="1" hangingPunct="1">
              <a:lnSpc>
                <a:spcPct val="90000"/>
              </a:lnSpc>
            </a:pPr>
            <a:r>
              <a:rPr lang="en-US" sz="2400"/>
              <a:t>Any change in the implementation does not change the user programs as long as the interface remains the same</a:t>
            </a:r>
          </a:p>
          <a:p>
            <a:pPr eaLnBrk="1" hangingPunct="1">
              <a:lnSpc>
                <a:spcPct val="90000"/>
              </a:lnSpc>
            </a:pPr>
            <a:r>
              <a:rPr lang="en-US" sz="2400"/>
              <a:t>This is also known as the data encapsulation or data abstraction.</a:t>
            </a:r>
          </a:p>
          <a:p>
            <a:pPr eaLnBrk="1" hangingPunct="1">
              <a:lnSpc>
                <a:spcPct val="90000"/>
              </a:lnSpc>
            </a:pPr>
            <a:endParaRPr lang="en-US" sz="2400"/>
          </a:p>
        </p:txBody>
      </p:sp>
      <p:sp>
        <p:nvSpPr>
          <p:cNvPr id="25605" name="Line 5"/>
          <p:cNvSpPr>
            <a:spLocks noChangeShapeType="1"/>
          </p:cNvSpPr>
          <p:nvPr/>
        </p:nvSpPr>
        <p:spPr bwMode="auto">
          <a:xfrm>
            <a:off x="4876800" y="2971800"/>
            <a:ext cx="38782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606" name="Text Box 7"/>
          <p:cNvSpPr txBox="1">
            <a:spLocks noChangeArrowheads="1"/>
          </p:cNvSpPr>
          <p:nvPr/>
        </p:nvSpPr>
        <p:spPr bwMode="auto">
          <a:xfrm>
            <a:off x="5124450" y="1981200"/>
            <a:ext cx="14938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latin typeface="Times New Roman" pitchFamily="18" charset="0"/>
              </a:rPr>
              <a:t>Interface 1</a:t>
            </a:r>
          </a:p>
        </p:txBody>
      </p:sp>
      <p:sp>
        <p:nvSpPr>
          <p:cNvPr id="25607" name="Text Box 8"/>
          <p:cNvSpPr txBox="1">
            <a:spLocks noChangeArrowheads="1"/>
          </p:cNvSpPr>
          <p:nvPr/>
        </p:nvSpPr>
        <p:spPr bwMode="auto">
          <a:xfrm>
            <a:off x="7021513" y="1905000"/>
            <a:ext cx="14938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latin typeface="Times New Roman" pitchFamily="18" charset="0"/>
              </a:rPr>
              <a:t>Interface 2</a:t>
            </a:r>
          </a:p>
        </p:txBody>
      </p:sp>
      <p:sp>
        <p:nvSpPr>
          <p:cNvPr id="25608" name="Text Box 9"/>
          <p:cNvSpPr txBox="1">
            <a:spLocks noChangeArrowheads="1"/>
          </p:cNvSpPr>
          <p:nvPr/>
        </p:nvSpPr>
        <p:spPr bwMode="auto">
          <a:xfrm>
            <a:off x="4959350" y="3581400"/>
            <a:ext cx="14938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latin typeface="Times New Roman" pitchFamily="18" charset="0"/>
              </a:rPr>
              <a:t>Interface 3</a:t>
            </a:r>
          </a:p>
        </p:txBody>
      </p:sp>
      <p:sp>
        <p:nvSpPr>
          <p:cNvPr id="25609" name="Text Box 10"/>
          <p:cNvSpPr txBox="1">
            <a:spLocks noChangeArrowheads="1"/>
          </p:cNvSpPr>
          <p:nvPr/>
        </p:nvSpPr>
        <p:spPr bwMode="auto">
          <a:xfrm>
            <a:off x="7010400" y="3657600"/>
            <a:ext cx="14938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latin typeface="Times New Roman" pitchFamily="18" charset="0"/>
              </a:rPr>
              <a:t>Interface 4</a:t>
            </a:r>
          </a:p>
        </p:txBody>
      </p:sp>
      <p:sp>
        <p:nvSpPr>
          <p:cNvPr id="25610" name="Line 11"/>
          <p:cNvSpPr>
            <a:spLocks noChangeShapeType="1"/>
          </p:cNvSpPr>
          <p:nvPr/>
        </p:nvSpPr>
        <p:spPr bwMode="auto">
          <a:xfrm>
            <a:off x="6858000" y="1752600"/>
            <a:ext cx="0" cy="2819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611" name="Rectangle 6"/>
          <p:cNvSpPr>
            <a:spLocks noChangeArrowheads="1"/>
          </p:cNvSpPr>
          <p:nvPr/>
        </p:nvSpPr>
        <p:spPr bwMode="auto">
          <a:xfrm>
            <a:off x="5867400" y="2590800"/>
            <a:ext cx="2062163" cy="7620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b="1" dirty="0">
                <a:latin typeface="Times New Roman" pitchFamily="18" charset="0"/>
              </a:rPr>
              <a:t>Implementation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C15C1-C056-4061-9E53-681186A5AF22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457200"/>
            <a:ext cx="8686800" cy="640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" y="152400"/>
            <a:ext cx="8686800" cy="2593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C15C1-C056-4061-9E53-681186A5AF22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</TotalTime>
  <Words>1419</Words>
  <Application>Microsoft Office PowerPoint</Application>
  <PresentationFormat>On-screen Show (4:3)</PresentationFormat>
  <Paragraphs>290</Paragraphs>
  <Slides>15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Selecting a Data Structure</vt:lpstr>
      <vt:lpstr>Data Structure Philosophy</vt:lpstr>
      <vt:lpstr>PowerPoint Presentation</vt:lpstr>
      <vt:lpstr>Arrays</vt:lpstr>
      <vt:lpstr>Array Layout (Linear-array)</vt:lpstr>
      <vt:lpstr>Linear(1-Dimensional Array)</vt:lpstr>
      <vt:lpstr>2-Dimensional Array</vt:lpstr>
      <vt:lpstr>2-Dimensional Array</vt:lpstr>
      <vt:lpstr>Link List</vt:lpstr>
      <vt:lpstr>Tree</vt:lpstr>
      <vt:lpstr>PowerPoint Presentation</vt:lpstr>
      <vt:lpstr>    Data Structure Operations </vt:lpstr>
      <vt:lpstr>Data Abstraction and Abstract Data Types (ADT)</vt:lpstr>
      <vt:lpstr>Abstract Data Type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Student</dc:creator>
  <cp:lastModifiedBy>Aleena Batool</cp:lastModifiedBy>
  <cp:revision>50</cp:revision>
  <dcterms:created xsi:type="dcterms:W3CDTF">2015-01-16T05:15:59Z</dcterms:created>
  <dcterms:modified xsi:type="dcterms:W3CDTF">2025-10-06T07:00:23Z</dcterms:modified>
</cp:coreProperties>
</file>